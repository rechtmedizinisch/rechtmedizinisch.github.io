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89e7e0f8e44fc5" /><Relationship Type="http://schemas.openxmlformats.org/officeDocument/2006/relationships/extended-properties" Target="/docProps/app.xml" Id="R8e4294fbe09e4065" /><Relationship Type="http://schemas.openxmlformats.org/officeDocument/2006/relationships/officeDocument" Target="/ppt/presentation.xml" Id="R839704aaf5414c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b208b9f94a4234"/>
  </p:sldMasterIdLst>
  <p:notesMasterIdLst>
    <p:notesMasterId xmlns:r="http://schemas.openxmlformats.org/officeDocument/2006/relationships" r:id="R7015823b6aba49a5"/>
  </p:notesMasterIdLst>
  <p:sldIdLst>
    <p:sldId xmlns:r="http://schemas.openxmlformats.org/officeDocument/2006/relationships" id="256" r:id="Re456b5ec85fa453b"/>
    <p:sldId xmlns:r="http://schemas.openxmlformats.org/officeDocument/2006/relationships" id="257" r:id="Rae900d278e6e44d6"/>
    <p:sldId xmlns:r="http://schemas.openxmlformats.org/officeDocument/2006/relationships" id="258" r:id="Ra945f296bca14810"/>
    <p:sldId xmlns:r="http://schemas.openxmlformats.org/officeDocument/2006/relationships" id="259" r:id="Rb9eafeb971ce4700"/>
    <p:sldId xmlns:r="http://schemas.openxmlformats.org/officeDocument/2006/relationships" id="260" r:id="R4cbd359180714523"/>
    <p:sldId xmlns:r="http://schemas.openxmlformats.org/officeDocument/2006/relationships" id="261" r:id="Rea1328e8ecd64e37"/>
    <p:sldId xmlns:r="http://schemas.openxmlformats.org/officeDocument/2006/relationships" id="262" r:id="R7016ae594c864f9b"/>
    <p:sldId xmlns:r="http://schemas.openxmlformats.org/officeDocument/2006/relationships" id="263" r:id="Ra69536004d18445e"/>
    <p:sldId xmlns:r="http://schemas.openxmlformats.org/officeDocument/2006/relationships" id="264" r:id="R058723d1686d40a7"/>
    <p:sldId xmlns:r="http://schemas.openxmlformats.org/officeDocument/2006/relationships" id="265" r:id="R33f9f2acfaf7457a"/>
    <p:sldId xmlns:r="http://schemas.openxmlformats.org/officeDocument/2006/relationships" id="266" r:id="R398138063aea4f76"/>
    <p:sldId xmlns:r="http://schemas.openxmlformats.org/officeDocument/2006/relationships" id="267" r:id="Rd789c618ad0049f4"/>
    <p:sldId xmlns:r="http://schemas.openxmlformats.org/officeDocument/2006/relationships" id="268" r:id="Rde09baf297294c9e"/>
    <p:sldId xmlns:r="http://schemas.openxmlformats.org/officeDocument/2006/relationships" id="269" r:id="R7e69abfa06e34b27"/>
    <p:sldId xmlns:r="http://schemas.openxmlformats.org/officeDocument/2006/relationships" id="270" r:id="R02f20015edd24196"/>
    <p:sldId xmlns:r="http://schemas.openxmlformats.org/officeDocument/2006/relationships" id="271" r:id="Rb7acb6ee1ac74a32"/>
    <p:sldId xmlns:r="http://schemas.openxmlformats.org/officeDocument/2006/relationships" id="272" r:id="Re090639d81524d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678c3269c64854" /><Relationship Type="http://schemas.openxmlformats.org/officeDocument/2006/relationships/slideMaster" Target="/ppt/slideMasters/slideMaster1.xml" Id="Ra3b208b9f94a4234" /><Relationship Type="http://schemas.openxmlformats.org/officeDocument/2006/relationships/notesMaster" Target="/ppt/notesMasters/notesMaster1.xml" Id="R7015823b6aba49a5" /><Relationship Type="http://schemas.openxmlformats.org/officeDocument/2006/relationships/presProps" Target="/ppt/presProps.xml" Id="R932b91098b004cef" /><Relationship Type="http://schemas.openxmlformats.org/officeDocument/2006/relationships/tableStyles" Target="/ppt/tableStyles.xml" Id="R46b49fec369244d8" /><Relationship Type="http://schemas.openxmlformats.org/officeDocument/2006/relationships/slide" Target="/ppt/slides/slide1.xml" Id="Re456b5ec85fa453b" /><Relationship Type="http://schemas.openxmlformats.org/officeDocument/2006/relationships/slide" Target="/ppt/slides/slide2.xml" Id="Rae900d278e6e44d6" /><Relationship Type="http://schemas.openxmlformats.org/officeDocument/2006/relationships/slide" Target="/ppt/slides/slide3.xml" Id="Ra945f296bca14810" /><Relationship Type="http://schemas.openxmlformats.org/officeDocument/2006/relationships/slide" Target="/ppt/slides/slide4.xml" Id="Rb9eafeb971ce4700" /><Relationship Type="http://schemas.openxmlformats.org/officeDocument/2006/relationships/slide" Target="/ppt/slides/slide5.xml" Id="R4cbd359180714523" /><Relationship Type="http://schemas.openxmlformats.org/officeDocument/2006/relationships/slide" Target="/ppt/slides/slide6.xml" Id="Rea1328e8ecd64e37" /><Relationship Type="http://schemas.openxmlformats.org/officeDocument/2006/relationships/slide" Target="/ppt/slides/slide7.xml" Id="R7016ae594c864f9b" /><Relationship Type="http://schemas.openxmlformats.org/officeDocument/2006/relationships/slide" Target="/ppt/slides/slide8.xml" Id="Ra69536004d18445e" /><Relationship Type="http://schemas.openxmlformats.org/officeDocument/2006/relationships/slide" Target="/ppt/slides/slide9.xml" Id="R058723d1686d40a7" /><Relationship Type="http://schemas.openxmlformats.org/officeDocument/2006/relationships/slide" Target="/ppt/slides/slide10.xml" Id="R33f9f2acfaf7457a" /><Relationship Type="http://schemas.openxmlformats.org/officeDocument/2006/relationships/slide" Target="/ppt/slides/slide11.xml" Id="R398138063aea4f76" /><Relationship Type="http://schemas.openxmlformats.org/officeDocument/2006/relationships/slide" Target="/ppt/slides/slide12.xml" Id="Rd789c618ad0049f4" /><Relationship Type="http://schemas.openxmlformats.org/officeDocument/2006/relationships/slide" Target="/ppt/slides/slide13.xml" Id="Rde09baf297294c9e" /><Relationship Type="http://schemas.openxmlformats.org/officeDocument/2006/relationships/slide" Target="/ppt/slides/slide14.xml" Id="R7e69abfa06e34b27" /><Relationship Type="http://schemas.openxmlformats.org/officeDocument/2006/relationships/slide" Target="/ppt/slides/slide15.xml" Id="R02f20015edd24196" /><Relationship Type="http://schemas.openxmlformats.org/officeDocument/2006/relationships/slide" Target="/ppt/slides/slide16.xml" Id="Rb7acb6ee1ac74a32" /><Relationship Type="http://schemas.openxmlformats.org/officeDocument/2006/relationships/slide" Target="/ppt/slides/slide17.xml" Id="Re090639d81524d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68e7b0ad284b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078d5bfa0142f9" /><Relationship Type="http://schemas.openxmlformats.org/officeDocument/2006/relationships/notesMaster" Target="/ppt/notesMasters/notesMaster1.xml" Id="R64ef8cfdc7c849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f0599cc35a40ce" /><Relationship Type="http://schemas.openxmlformats.org/officeDocument/2006/relationships/notesMaster" Target="/ppt/notesMasters/notesMaster1.xml" Id="R960be9bbcf504f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d4b3999f924a59" /><Relationship Type="http://schemas.openxmlformats.org/officeDocument/2006/relationships/notesMaster" Target="/ppt/notesMasters/notesMaster1.xml" Id="R2a4eea9220844d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6bdf90fa88491a" /><Relationship Type="http://schemas.openxmlformats.org/officeDocument/2006/relationships/notesMaster" Target="/ppt/notesMasters/notesMaster1.xml" Id="R686bb511a91345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383cad74b341e2" /><Relationship Type="http://schemas.openxmlformats.org/officeDocument/2006/relationships/notesMaster" Target="/ppt/notesMasters/notesMaster1.xml" Id="Ra4090632fedf44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506fa6b8eb4da5" /><Relationship Type="http://schemas.openxmlformats.org/officeDocument/2006/relationships/notesMaster" Target="/ppt/notesMasters/notesMaster1.xml" Id="Rb93c5b16a6f64f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77264ed1c7477a" /><Relationship Type="http://schemas.openxmlformats.org/officeDocument/2006/relationships/notesMaster" Target="/ppt/notesMasters/notesMaster1.xml" Id="Re1a94d0ec9e844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3d1cbe900546d6" /><Relationship Type="http://schemas.openxmlformats.org/officeDocument/2006/relationships/notesMaster" Target="/ppt/notesMasters/notesMaster1.xml" Id="R8a80a4464cc14e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9b86fb1532463f" /><Relationship Type="http://schemas.openxmlformats.org/officeDocument/2006/relationships/notesMaster" Target="/ppt/notesMasters/notesMaster1.xml" Id="R46854b8a14dc43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77da0653bc49c3" /><Relationship Type="http://schemas.openxmlformats.org/officeDocument/2006/relationships/notesMaster" Target="/ppt/notesMasters/notesMaster1.xml" Id="R6068abc653664b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3af8abbe8e4c47" /><Relationship Type="http://schemas.openxmlformats.org/officeDocument/2006/relationships/notesMaster" Target="/ppt/notesMasters/notesMaster1.xml" Id="R3aed52369b1841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a636254f1e493f" /><Relationship Type="http://schemas.openxmlformats.org/officeDocument/2006/relationships/notesMaster" Target="/ppt/notesMasters/notesMaster1.xml" Id="R789d579ea5f44b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9fc46883e14dcc" /><Relationship Type="http://schemas.openxmlformats.org/officeDocument/2006/relationships/notesMaster" Target="/ppt/notesMasters/notesMaster1.xml" Id="R82211230a11c48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96b7d5bfe643a4" /><Relationship Type="http://schemas.openxmlformats.org/officeDocument/2006/relationships/notesMaster" Target="/ppt/notesMasters/notesMaster1.xml" Id="Rf7223d12a56848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7401f4f97e4aaf" /><Relationship Type="http://schemas.openxmlformats.org/officeDocument/2006/relationships/notesMaster" Target="/ppt/notesMasters/notesMaster1.xml" Id="Racf792fb9bf948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23b127b7bd4395" /><Relationship Type="http://schemas.openxmlformats.org/officeDocument/2006/relationships/notesMaster" Target="/ppt/notesMasters/notesMaster1.xml" Id="R0d2a58ddd08b42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9328adb21c45de" /><Relationship Type="http://schemas.openxmlformats.org/officeDocument/2006/relationships/notesMaster" Target="/ppt/notesMasters/notesMaster1.xml" Id="R7ccde7e9440747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Kurskonzeption des Lernkurses · Recht Medizinisch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Recht Medizinisch · allgemeine Lernfassung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AG Hersbruck, Beschl. v. 16.10.1992 – XVII 1556/92, NJW 1992, 3245 · DER SPIEGEL, Video v. 29.10.2012 · https://beck-online.beck.de/Bcid/Y-300-Z-NJW-B-1992-S-3245-N-1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Podcast Recht Medizinisch, Kurzvisite „Der Erlanger Baby-Fall“, 22.06.2026 · https://podcasts.apple.com/us/podcast/recht-medizinisch/id1896818482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AG Hersbruck, Beschl. v. 16.10.1992 – XVII 1556/92, NJW 1992, 3245 · BVerfG, Urt. v. 28.05.1993 – 2 BvF 2/90 · https://beck-online.beck.de/Bcid/Y-300-Z-NJW-B-1992-S-3245-N-1 · https://www.bundesverfassungsgericht.de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AG Hersbruck, Beschl. v. 16.10.1992 – XVII 1556/92, NJW 1992, 3245 · BVerfG, Urt. v. 28.05.1993 – 2 BvF 2/90 · https://beck-online.beck.de/Bcid/Y-300-Z-NJW-B-1992-S-3245-N-1 · https://www.bundesverfassungsgericht.de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Recht Medizinisch · allgemeine Lernfassung. Zur Todesfeststellung: Bundesärztekammer, Richtlinie zum irreversiblen Hirnfunktionsausfall, Fünfte Fortschreibung (2022), geprüft 07.09.2026 · https://www.wbbaek.de/richtlinien-leitlinien/irreversibler-hirnfunktionsausfall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Recht Medizinisch · allgemeine Lernfassung. Zur Todesfeststellung: Bundesärztekammer, Richtlinie zum irreversiblen Hirnfunktionsausfall, Fünfte Fortschreibung (2022), geprüft 07.09.2026 · https://www.wbbaek.de/richtlinien-leitlinien/irreversibler-hirnfunktionsausfall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AG Hersbruck, Beschl. v. 16.10.1992 – XVII 1556/92, NJW 1992, 3245; veröffentlichter Beschlusstext geprüft am 09.09.2026 · https://beck-online.beck.de/Bcid/Y-300-Z-NJW-B-1992-S-3245-N-1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AG Hersbruck, Beschl. v. 16.10.1992 – XVII 1556/92, NJW 1992, 3245; veröffentlichter Beschlusstext geprüft am 09.09.2026 · https://beck-online.beck.de/Bcid/Y-300-Z-NJW-B-1992-S-3245-N-1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AG Hersbruck, Beschl. v. 16.10.1992 – XVII 1556/92 · https://beck-online.beck.de/Bcid/Y-300-Z-NJW-B-1992-S-3245-N-1 · Kritische Einordnung: Neue Kriminalpolitik 1993, 9–11 · https://doi.org/10.5771/0934-9200-1993-1-9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AG Hersbruck, Beschl. v. 16.10.1992 – XVII 1556/92 · https://beck-online.beck.de/Bcid/Y-300-Z-NJW-B-1992-S-3245-N-1 · Kritische Einordnung: Neue Kriminalpolitik 1993, 9–11 · https://doi.org/10.5771/0934-9200-1993-1-9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Heutiger Rechtsrahmen: § 1870 BGB und § 1874 Abs. 2 BGB. Amtliche Gesetzestexte: https://www.gesetze-im-internet.de/bgb/__1870.html und https://www.gesetze-im-internet.de/bgb/__1874.html · geprüft am 08.09.2026. Diese Normen belegen die heutige Rechtslage; sie sind kein Beleg für die historische Entscheidung.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Heutiger Rechtsrahmen: § 1870 BGB und § 1874 Abs. 2 BGB. Amtliche Gesetzestexte: https://www.gesetze-im-internet.de/bgb/__1870.html und https://www.gesetze-im-internet.de/bgb/__1874.html · geprüft am 08.09.2026. Diese Normen belegen die heutige Rechtslage; sie sind kein Beleg für die historische Entscheidung.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Recht Medizinisch, Kurzvisite „Der Erlanger Baby-Fall“, Apple Podcasts/Spotify, 22.06.2026 · SPIEGEL-Link in der Episodenbeschreibung · https://podcasts.apple.com/us/podcast/recht-medizinisch/id1896818482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Recht Medizinisch · allgemeine Lernfassung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f717aa1994d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937e1d19d42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d42da0ad64c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388e3b6ea40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0f24b9c9446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dda13a14e4a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D7D865-D0BD-451F-B74D-0BE658F216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AB7424-9C5D-4844-B881-EFC12FFB46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088E8D-3DAF-4857-8EC0-B69F4425FF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A1474-D450-40B3-97DB-F692D2BDE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86D88B-C6A4-4003-A448-5229205FD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083D65-2AE4-423B-A31C-7BE382B01D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81E500-1AB9-4CD5-B303-DFD3FC9525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91E624-72EF-4F0E-9E20-C3752183A1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ED97EC-F19E-49A8-90EE-71EFD9DD57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25BA3F-E1E0-44FA-A5A2-CEA50147C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484d1fc1ff4090" /><Relationship Type="http://schemas.openxmlformats.org/officeDocument/2006/relationships/slideLayout" Target="/ppt/slideLayouts/slideLayout1.xml" Id="Rfd9622ac4d764a79" /><Relationship Type="http://schemas.openxmlformats.org/officeDocument/2006/relationships/slideLayout" Target="/ppt/slideLayouts/slideLayout2.xml" Id="R47722c8be90a4cd1" /><Relationship Type="http://schemas.openxmlformats.org/officeDocument/2006/relationships/slideLayout" Target="/ppt/slideLayouts/slideLayout3.xml" Id="R6b5598a915c54279" /><Relationship Type="http://schemas.openxmlformats.org/officeDocument/2006/relationships/slideLayout" Target="/ppt/slideLayouts/slideLayout4.xml" Id="Rfc131ee5d6694551" /><Relationship Type="http://schemas.openxmlformats.org/officeDocument/2006/relationships/slideLayout" Target="/ppt/slideLayouts/slideLayout5.xml" Id="Rf4e8ef5f1ab24007" /><Relationship Type="http://schemas.openxmlformats.org/officeDocument/2006/relationships/slideLayout" Target="/ppt/slideLayouts/slideLayout6.xml" Id="R69fdd9b2947740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9622ac4d764a79"/>
    <p:sldLayoutId xmlns:r="http://schemas.openxmlformats.org/officeDocument/2006/relationships" id="2147483650" r:id="R47722c8be90a4cd1"/>
    <p:sldLayoutId xmlns:r="http://schemas.openxmlformats.org/officeDocument/2006/relationships" id="2147483651" r:id="R6b5598a915c54279"/>
    <p:sldLayoutId xmlns:r="http://schemas.openxmlformats.org/officeDocument/2006/relationships" id="2147483652" r:id="Rfc131ee5d6694551"/>
    <p:sldLayoutId xmlns:r="http://schemas.openxmlformats.org/officeDocument/2006/relationships" id="2147483653" r:id="Rf4e8ef5f1ab24007"/>
    <p:sldLayoutId xmlns:r="http://schemas.openxmlformats.org/officeDocument/2006/relationships" id="2147483654" r:id="R69fdd9b2947740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2527f9cee4375" /><Relationship Type="http://schemas.openxmlformats.org/officeDocument/2006/relationships/image" Target="/ppt/media/image.png" Id="R61064a454b9a4a0e" /><Relationship Type="http://schemas.openxmlformats.org/officeDocument/2006/relationships/notesSlide" Target="/ppt/notesSlides/notesSlide1.xml" Id="R99f70d00a4184f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422e9162f4cf5" /><Relationship Type="http://schemas.openxmlformats.org/officeDocument/2006/relationships/notesSlide" Target="/ppt/notesSlides/notesSlide2.xml" Id="Rf222feb1e29443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a41be620594fa9" /><Relationship Type="http://schemas.openxmlformats.org/officeDocument/2006/relationships/notesSlide" Target="/ppt/notesSlides/notesSlide3.xml" Id="Rf5b842997e7045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b7a9491164137" /><Relationship Type="http://schemas.openxmlformats.org/officeDocument/2006/relationships/hyperlink" Target="https://beck-online.beck.de/Bcid/Y-300-Z-NJW-B-1992-S-3245-N-1" TargetMode="External" Id="Rab203338fab4473d" /><Relationship Type="http://schemas.openxmlformats.org/officeDocument/2006/relationships/notesSlide" Target="/ppt/notesSlides/notesSlide4.xml" Id="R23cdde2ce10b48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975f4ecf654ab2" /><Relationship Type="http://schemas.openxmlformats.org/officeDocument/2006/relationships/hyperlink" Target="https://podcasts.apple.com/us/podcast/recht-medizinisch/id1896818482" TargetMode="External" Id="R7894801808744a41" /><Relationship Type="http://schemas.openxmlformats.org/officeDocument/2006/relationships/notesSlide" Target="/ppt/notesSlides/notesSlide5.xml" Id="Rafe9752128b543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001b4b24d44da" /><Relationship Type="http://schemas.openxmlformats.org/officeDocument/2006/relationships/hyperlink" Target="https://beck-online.beck.de/Bcid/Y-300-Z-NJW-B-1992-S-3245-N-1" TargetMode="External" Id="R3b89ffd5683a400c" /><Relationship Type="http://schemas.openxmlformats.org/officeDocument/2006/relationships/hyperlink" Target="https://www.bundesverfassungsgericht.de/" TargetMode="External" Id="R5edae0746cdb4eb8" /><Relationship Type="http://schemas.openxmlformats.org/officeDocument/2006/relationships/notesSlide" Target="/ppt/notesSlides/notesSlide6.xml" Id="Rd3278276338d47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9c2510d9349c3" /><Relationship Type="http://schemas.openxmlformats.org/officeDocument/2006/relationships/hyperlink" Target="https://beck-online.beck.de/Bcid/Y-300-Z-NJW-B-1992-S-3245-N-1" TargetMode="External" Id="Rdd11ce322e3145f8" /><Relationship Type="http://schemas.openxmlformats.org/officeDocument/2006/relationships/hyperlink" Target="https://www.bundesverfassungsgericht.de/" TargetMode="External" Id="R06d1797d8a784749" /><Relationship Type="http://schemas.openxmlformats.org/officeDocument/2006/relationships/notesSlide" Target="/ppt/notesSlides/notesSlide7.xml" Id="R20af686b23a640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ea1c8810649e6" /><Relationship Type="http://schemas.openxmlformats.org/officeDocument/2006/relationships/hyperlink" Target="https://www.wbbaek.de/richtlinien-leitlinien/irreversibler-hirnfunktionsausfall" TargetMode="External" Id="R84e4d52aa1b449a7" /><Relationship Type="http://schemas.openxmlformats.org/officeDocument/2006/relationships/notesSlide" Target="/ppt/notesSlides/notesSlide8.xml" Id="R16a1153b956948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698d215b2c4682" /><Relationship Type="http://schemas.openxmlformats.org/officeDocument/2006/relationships/hyperlink" Target="https://www.wbbaek.de/richtlinien-leitlinien/irreversibler-hirnfunktionsausfall" TargetMode="External" Id="Rd792f39239354cac" /><Relationship Type="http://schemas.openxmlformats.org/officeDocument/2006/relationships/notesSlide" Target="/ppt/notesSlides/notesSlide9.xml" Id="Re06095282bd04d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21b761e0454798" /><Relationship Type="http://schemas.openxmlformats.org/officeDocument/2006/relationships/hyperlink" Target="https://beck-online.beck.de/Bcid/Y-300-Z-NJW-B-1992-S-3245-N-1" TargetMode="External" Id="R7434f91a82f446bc" /><Relationship Type="http://schemas.openxmlformats.org/officeDocument/2006/relationships/notesSlide" Target="/ppt/notesSlides/notesSlide10.xml" Id="R8915fed0580746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62648829c443f" /><Relationship Type="http://schemas.openxmlformats.org/officeDocument/2006/relationships/hyperlink" Target="https://beck-online.beck.de/Bcid/Y-300-Z-NJW-B-1992-S-3245-N-1" TargetMode="External" Id="Rf37ce9e060c14160" /><Relationship Type="http://schemas.openxmlformats.org/officeDocument/2006/relationships/notesSlide" Target="/ppt/notesSlides/notesSlide11.xml" Id="R8fd1d917c1e246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1cac0b84bd4194" /><Relationship Type="http://schemas.openxmlformats.org/officeDocument/2006/relationships/hyperlink" Target="https://beck-online.beck.de/Bcid/Y-300-Z-NJW-B-1992-S-3245-N-1" TargetMode="External" Id="Rd8cb8b696195401f" /><Relationship Type="http://schemas.openxmlformats.org/officeDocument/2006/relationships/hyperlink" Target="https://doi.org/10.5771/0934-9200-1993-1-9" TargetMode="External" Id="Rf565c9efc718409b" /><Relationship Type="http://schemas.openxmlformats.org/officeDocument/2006/relationships/notesSlide" Target="/ppt/notesSlides/notesSlide12.xml" Id="Refcdebb30d3141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cc6ffd34d4688" /><Relationship Type="http://schemas.openxmlformats.org/officeDocument/2006/relationships/hyperlink" Target="https://beck-online.beck.de/Bcid/Y-300-Z-NJW-B-1992-S-3245-N-1" TargetMode="External" Id="R6a394b6e7f53452b" /><Relationship Type="http://schemas.openxmlformats.org/officeDocument/2006/relationships/hyperlink" Target="https://doi.org/10.5771/0934-9200-1993-1-9" TargetMode="External" Id="R6e1767a877a445c4" /><Relationship Type="http://schemas.openxmlformats.org/officeDocument/2006/relationships/notesSlide" Target="/ppt/notesSlides/notesSlide13.xml" Id="R90d825a91e0143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8f06b44764eab" /><Relationship Type="http://schemas.openxmlformats.org/officeDocument/2006/relationships/hyperlink" Target="https://www.gesetze-im-internet.de/bgb/__1870.html" TargetMode="External" Id="R2d8878aef052404e" /><Relationship Type="http://schemas.openxmlformats.org/officeDocument/2006/relationships/hyperlink" Target="https://www.gesetze-im-internet.de/bgb/__1874.html" TargetMode="External" Id="Ra6db75d1570a42e1" /><Relationship Type="http://schemas.openxmlformats.org/officeDocument/2006/relationships/notesSlide" Target="/ppt/notesSlides/notesSlide14.xml" Id="R8544bd959e594c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1e4afc2fe64b7f" /><Relationship Type="http://schemas.openxmlformats.org/officeDocument/2006/relationships/hyperlink" Target="https://www.gesetze-im-internet.de/bgb/__1870.html" TargetMode="External" Id="R7d6a2039c3d44cba" /><Relationship Type="http://schemas.openxmlformats.org/officeDocument/2006/relationships/hyperlink" Target="https://www.gesetze-im-internet.de/bgb/__1874.html" TargetMode="External" Id="R7f492458de8345e8" /><Relationship Type="http://schemas.openxmlformats.org/officeDocument/2006/relationships/notesSlide" Target="/ppt/notesSlides/notesSlide15.xml" Id="Raec60eeaf5754e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d66afa86342b4" /><Relationship Type="http://schemas.openxmlformats.org/officeDocument/2006/relationships/hyperlink" Target="https://podcasts.apple.com/us/podcast/recht-medizinisch/id1896818482" TargetMode="External" Id="R6b8219ff0f5f4430" /><Relationship Type="http://schemas.openxmlformats.org/officeDocument/2006/relationships/notesSlide" Target="/ppt/notesSlides/notesSlide16.xml" Id="R4295caeee3a34b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0adc074944d0e" /><Relationship Type="http://schemas.openxmlformats.org/officeDocument/2006/relationships/notesSlide" Target="/ppt/notesSlides/notesSlide17.xml" Id="R696b990bc77243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70EDA-A104-4CAE-A337-135A33FB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RECHT MEDIZINISCH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79435-0801-47D4-853F-AF3D078E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Recht haben.</a:t>
            </a:r>
          </a:p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Recht bekommen.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85BAB-65D3-49F6-BCBA-EECB0DE9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461962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Medizinrecht verstehen, Verfahren beherrschen, Konflikte praktisch lösen</a:t>
            </a:r>
            <a:br/>
            <a:r>
              <a:t>Allgemeine Lern- und Präsentationsfassung · 15 fallbasierte Kurse · ohne juristische Vorkenntnisse</a:t>
            </a:r>
            <a:br/>
            <a:r>
              <a:t>Konzeption: Philipp Graef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64a454b9a4a0e"/>
          <a:stretch xmlns:a="http://schemas.openxmlformats.org/drawingml/2006/main"/>
        </p:blipFill>
        <p:spPr>
          <a:xfrm xmlns:a="http://schemas.openxmlformats.org/drawingml/2006/main">
            <a:off x="5619750" y="2377288"/>
            <a:ext cx="6000750" cy="315117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74E6F-6C7F-47ED-B181-9DD47F56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1 · Seite 1/1</a:t>
            </a:r>
          </a:p>
        </p:txBody>
      </p:sp>
    </p:spTree>
    <p:extLst>
      <p:ext uri="{BB962C8B-B14F-4D97-AF65-F5344CB8AC3E}">
        <p14:creationId xmlns:p14="http://schemas.microsoft.com/office/powerpoint/2010/main" val="1859943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FAB0E-A594-4F24-8437-375B48BB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IHRE LERNZIELE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88D2B-CE0C-4DD0-A4A0-BEB1520A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Medizinrecht verstehen und anwenden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C37DE-DCF9-47AA-B833-9292C5FC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☷ Kernpunkte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CF69A-1B44-449C-BDD5-1700788B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11252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• einen medizinrechtlichen Konflikt der richtigen Verfahrensspur zuordnen.</a:t>
            </a:r>
            <a:br/>
            <a:r>
              <a:t>• Arzthaftung nach §§ 280, 823 und 630a–630h BGB vollständig prüfen.</a:t>
            </a:r>
            <a:br/>
            <a:r>
              <a:t>• Zivilprozessrecht, Strafprozessrecht und Verwaltungsprozessrecht Schritt für Schritt erklären.</a:t>
            </a:r>
            <a:br/>
            <a:r>
              <a:t>• </a:t>
            </a:r>
            <a:r>
              <a:rPr b="1"/>
              <a:t>Beweislast</a:t>
            </a:r>
            <a:r>
              <a:t>, Beweismaß und Sachverständigenbeweis praktisch anwenden.</a:t>
            </a:r>
            <a:br/>
            <a:r>
              <a:t>• Berufsrecht, Approbationsrecht und Arbeitsrecht als eigenständige Verfahren behandeln.</a:t>
            </a:r>
            <a:br/>
            <a:r>
              <a:t>• nach einem Zwischenfall patientensicher, wahr, zeitnah und rollenbewusst handeln.</a:t>
            </a:r>
            <a:br/>
            <a:r>
              <a:t>• die Podcastfälle von Aufklärung und Patientenwillen bis KI, ePA und Systemdruck lösen.</a:t>
            </a:r>
            <a:br/>
            <a:r>
              <a:t>• defensive Medizin erkennen und patientenzentrierte Entscheidungen rechtlich begründen.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6D2DF-CA3F-457C-B363-5B480DF8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Quelle: Kurskonzeption des Lernkurses · Recht Medizinisch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976A7-C587-421E-8EFF-991ADCDB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2 · Seite 1/1</a:t>
            </a:r>
          </a:p>
        </p:txBody>
      </p:sp>
    </p:spTree>
    <p:extLst>
      <p:ext uri="{BB962C8B-B14F-4D97-AF65-F5344CB8AC3E}">
        <p14:creationId xmlns:p14="http://schemas.microsoft.com/office/powerpoint/2010/main" val="675826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8E01C-0BE3-48CE-91FC-CA1AA64A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D7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D7D1"/>
                </a:solidFill>
                <a:latin typeface="Arial"/>
                <a:ea typeface="Arial"/>
                <a:cs typeface="Arial"/>
              </a:rPr>
              <a:t>LERNEN IN DER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A0877-E2EC-4D5E-AC1A-021A302B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Vom Wissen zum Handeln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91625-C2F6-4ACF-8B98-B83979B0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54864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29C53-039D-43C3-BD13-8787AFBC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❝ Kernaussage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DE23A-DADF-4F99-9E51-1206E3DF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54102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Die Präsentation erklärt. Die Lernapp lässt anwenden.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AC852-F27E-43FA-B185-5E370B63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1125"/>
            <a:ext cx="54864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EED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342CD-F1B1-4D34-AA85-E2745877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573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🧭 Einordnung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70E9D-F30C-4130-9ED6-4885956E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95475"/>
            <a:ext cx="54102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Jeder Kurs öffnet unmittelbar seine Normgrundlagen, einen Fall, eine Originalentscheidung, einen Wissenscheck und einen Praxistransfer. Fortschritt entsteht nicht durch bloßes Weiterklicken.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CEA66-C5B6-47E3-9AAA-6D515851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0"/>
            <a:ext cx="54864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EDC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41956-E131-4E20-AC3B-D2B1CD72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💡 Merksatz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8A30C-F4C1-4E28-9C29-60DAB81C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54102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15 Kurse · Lernfortschritt nach erledigten Pflichtschritten · exportierbarer digitaler Lernnachweis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C89CB-7AA7-4E5D-9F0B-8D2030E0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54864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81456-AEAE-4CBC-B4AC-DD065D82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14700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Ihr Lernweg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5EC37-15AC-4FAD-989E-DE05BB7C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54102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Die App speichert Ihren Lernfortschritt lokal. Halten Sie Ihre erste Entscheidung im Erlanger-Baby-Fall selbst fest und vergleichen Sie sie nach der rechtlichen Analyse mit Ihrer späteren Einschätzung.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C57FB-D0A9-4D4E-862B-EB0B5246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D8D5"/>
                </a:solidFill>
                <a:latin typeface="Arial"/>
                <a:ea typeface="Arial"/>
                <a:cs typeface="Arial"/>
              </a:defRPr>
            </a:pPr>
            <a:r>
              <a:t>Quelle: Recht Medizinisch · allgemeine Lernfassung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521E1-665A-4093-B2F4-376942BD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D8D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D8D5"/>
                </a:solidFill>
                <a:latin typeface="Arial"/>
                <a:ea typeface="Arial"/>
                <a:cs typeface="Arial"/>
              </a:rPr>
              <a:t>Recht Medizinisch · Folie 3 · Seite 1/1</a:t>
            </a:r>
          </a:p>
        </p:txBody>
      </p:sp>
    </p:spTree>
    <p:extLst>
      <p:ext uri="{BB962C8B-B14F-4D97-AF65-F5344CB8AC3E}">
        <p14:creationId xmlns:p14="http://schemas.microsoft.com/office/powerpoint/2010/main" val="1982750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F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CC18F-3D4A-4009-9BA1-87D95F33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ERLANGER BABY · 1992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5F3CD-1C99-485F-8FC5-3B88C89D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Wie würden Sie entscheiden?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B6DA2-12B8-4887-8F6C-8FA9BF86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54864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EED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7239D-C8C5-49A8-B914-4BE32654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? Leitfrage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F94B1-0AEF-4DDD-8706-46976E69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5410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Darf ein Krankenhaus die Körperfunktionen einer hirntoten Schwangeren aufrechterhalten, um dem ungeborenen Kind eine Überlebenschance zu geben?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764C4-4150-47D3-A037-46F59799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1125"/>
            <a:ext cx="54864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6C176-A485-442B-8495-DE3178F6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573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18 Jahre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21661-3911-4897-B5DD-09F96096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95475"/>
            <a:ext cx="5410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schwangere Patientin nach schwerem Verkehrsunfall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F9617-1096-4783-AA51-C91BC211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90850"/>
            <a:ext cx="54864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E2CCC-5AAA-4DF2-AF1E-2CC45C63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15. SSW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3DD26-CEF1-4C69-B47D-2FCB8F54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5410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Schwangerschaft erst im Rahmen der Versorgung erkannt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04BE3-D272-4EA3-B3FA-5335A4A0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54864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1A645-34EC-4192-9BC9-35A9F9E2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Hirntod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0108A-8080-4888-AF34-41C24DC1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5410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irreversibler Ausfall der gesamten Hirnfunktionen festgestellt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69B5E-DAC2-4D22-BD3E-21333ED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52925"/>
            <a:ext cx="54864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9CEA1-EB6A-4404-A951-5CBD0325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Zeitdruck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F0A28-E950-47C4-B520-27F0C351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67275"/>
            <a:ext cx="5410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medizinische, ethische und rechtliche Entscheidung ohne sicheren Ausgang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99E84-22C2-494B-AF04-3E8FAF2A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52925"/>
            <a:ext cx="54864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080EF-7FDC-4E52-9EC3-7FC2CF47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☑ Arbeitsauftrag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AA88E-5CB4-41E3-9A94-0DDA431A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67275"/>
            <a:ext cx="5410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Noch keine Paragrafen: Entscheiden Sie zunächst klinisch und moralisch.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48861-1917-41E2-99B4-8C35664F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Quelle: AG Hersbruck, Beschl. v. 16.10.1992 – XVII 1556/92, NJW 1992, 3245 · DER SPIEGEL, Video v. 29.10.2012 · </a:t>
            </a:r>
            <a:r>
              <a:rPr>
                <a:hlinkClick xmlns:r="http://schemas.openxmlformats.org/officeDocument/2006/relationships" r:id="Rab203338fab4473d"/>
              </a:rPr>
              <a:t>Quelle öffnen (beck-online.beck.de)</a:t>
            </a:r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17C794-6146-49ED-9221-9D6359FD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4 · Seite 1/1</a:t>
            </a:r>
          </a:p>
        </p:txBody>
      </p:sp>
    </p:spTree>
    <p:extLst>
      <p:ext uri="{BB962C8B-B14F-4D97-AF65-F5344CB8AC3E}">
        <p14:creationId xmlns:p14="http://schemas.microsoft.com/office/powerpoint/2010/main" val="1087691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A9C6B-E3EC-40E2-96C6-0B40FCDF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IHRE POSITION · 60 SEKUNDEN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71B30-22C4-43F8-9FDD-61467F92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Fortführen, beenden oder vertagen?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74064-AA33-4B1D-A53A-F1B3E2C0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54864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62470-A89F-4CF3-A324-285E3A39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A · Beenden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57C48-FBFD-4282-AEBF-B43830A7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5410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Die Verstorbene darf nicht zum bloßen Mittel gemacht werden; ihre Würde und ihr </a:t>
            </a:r>
            <a:r>
              <a:rPr b="1"/>
              <a:t>mutmaßlicher Wille</a:t>
            </a:r>
            <a:r>
              <a:t> sprechen gegen die Fortführung.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554EE-B99D-464C-9989-694CB42C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1125"/>
            <a:ext cx="54864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9DCA7-0AF6-4F31-BDE8-E8A93E2C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573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B · Fortführen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0E140-0313-4B08-BE2F-148271A3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95475"/>
            <a:ext cx="5410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Das ungeborene Leben erhält eine Chance; die intensivmedizinische Unterstützung wird zeitlich befristet fortgesetzt.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ADEB3-3901-4176-A8C1-7EA5900C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90850"/>
            <a:ext cx="54864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0BB6C-E9C4-404E-A858-E4B31EF5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C · Vertagen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1444D-B840-4F81-B49E-21FA4339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54102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24 Stunden für Prognose, Willensermittlung, Familie, Ethik und gerichtliche Zuständigkeitsklärung.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51294-00A9-4867-8551-B795F731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54864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A4245-1776-461E-A730-0F5CC945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☑ Arbeitsauftrag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F2B49-238D-45ED-964E-CC891C47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54102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Wählen Sie für sich A, B oder C. Formulieren Sie einen tragenden Grund und eine noch offene Tatsachenfrage. Vergleichen Sie Ihre erste Einschätzung nach der Fallanalyse erneut.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77974-7996-4BCE-9D19-A26AA0F6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Quelle: Podcast Recht Medizinisch, Kurzvisite „Der Erlanger Baby-Fall“, 22.06.2026 · </a:t>
            </a:r>
            <a:r>
              <a:rPr>
                <a:hlinkClick xmlns:r="http://schemas.openxmlformats.org/officeDocument/2006/relationships" r:id="R7894801808744a41"/>
              </a:rPr>
              <a:t>Quelle öffnen (podcasts.apple.com)</a:t>
            </a:r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8FA27-7F28-4E3C-9131-DAE8B489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5 · Seite 1/1</a:t>
            </a:r>
          </a:p>
        </p:txBody>
      </p:sp>
    </p:spTree>
    <p:extLst>
      <p:ext uri="{BB962C8B-B14F-4D97-AF65-F5344CB8AC3E}">
        <p14:creationId xmlns:p14="http://schemas.microsoft.com/office/powerpoint/2010/main" val="2055569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AFB57-CBC6-4C0B-AFA4-EF61FE36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INTERESSEN UND VERANTWORTUNG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29201-7A18-45AF-AB07-57117AEC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Wer steht im Konflikt?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8D9B7-6A6F-4485-8FFA-77B24AE1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Interessen im Konflikt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4947A-7D62-4EB5-8B18-675F88AB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112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Welche Interessen tragen welche Entscheidung?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58601-A043-4EF8-861B-2D23E3A9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Verstorbene Frau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25178-3B45-41A4-8B77-A9F7C005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frühere Wünsche, Menschenwürde und postmortaler Persönlichkeitsschutz; nach Hirntod keine laufende Patienteneinwilligung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98A88-5E02-4C06-BFC9-4ED13FF5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Ungeborenes Leben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E20FB-6A50-465F-9DBB-BE28FEA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staatliche Schutzpflicht aus Art. 1 Abs. 1 i. V. m. Art. 2 Abs. 2 Satz 1 GG; konkrete Prognose und </a:t>
            </a:r>
            <a:r>
              <a:rPr b="1"/>
              <a:t>Verhältnismäßigkeit</a:t>
            </a:r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D1F53-BFCB-40A2-8C2C-3C10B17A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Quelle: AG Hersbruck, Beschl. v. 16.10.1992 – XVII 1556/92, NJW 1992, 3245 · BVerfG, Urt. v. 28.05.1993 – 2 BvF 2/90 · </a:t>
            </a:r>
            <a:r>
              <a:rPr>
                <a:hlinkClick xmlns:r="http://schemas.openxmlformats.org/officeDocument/2006/relationships" r:id="R3b89ffd5683a400c"/>
              </a:rPr>
              <a:t>Quelle öffnen (beck-online.beck.de)</a:t>
            </a:r>
            <a:r>
              <a:t> · </a:t>
            </a:r>
            <a:r>
              <a:rPr>
                <a:hlinkClick xmlns:r="http://schemas.openxmlformats.org/officeDocument/2006/relationships" r:id="R5edae0746cdb4eb8"/>
              </a:rPr>
              <a:t>Quelle öffnen (bundesverfassungsgericht.de)</a:t>
            </a:r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1F364-8B4E-49BD-A0F6-695BC499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6 · Seite 1/2</a:t>
            </a:r>
          </a:p>
        </p:txBody>
      </p:sp>
    </p:spTree>
    <p:extLst>
      <p:ext uri="{BB962C8B-B14F-4D97-AF65-F5344CB8AC3E}">
        <p14:creationId xmlns:p14="http://schemas.microsoft.com/office/powerpoint/2010/main" val="261721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7A67A-3982-4077-8650-8E93B892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INTERESSEN UND VERANTWORTUNG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8D037-5C51-4928-86D4-F6464694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Wer steht im Konflikt?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53E07-EE39-4847-BFD8-776524A2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Familie und Totenfürsorge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C8203-12B5-44DC-B7CF-F595470F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wichtige Informationen und eigene Belastung; Angehörige entscheiden nicht automatisch über jede medizinische Maßnahme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632BA-A2DE-4E6A-BC31-10713D8A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622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Behandlungsteam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BA256-B00E-4B5D-AD15-E7059D1A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Todesfeststellung, medizinische Indikation, Prognose, Ressourcen, interprofessionelle Beratung und Dokumentation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013BD-8533-4383-8DE3-80E8F3C2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Quelle: AG Hersbruck, Beschl. v. 16.10.1992 – XVII 1556/92, NJW 1992, 3245 · BVerfG, Urt. v. 28.05.1993 – 2 BvF 2/90 · </a:t>
            </a:r>
            <a:r>
              <a:rPr>
                <a:hlinkClick xmlns:r="http://schemas.openxmlformats.org/officeDocument/2006/relationships" r:id="Rdd11ce322e3145f8"/>
              </a:rPr>
              <a:t>Quelle öffnen (beck-online.beck.de)</a:t>
            </a:r>
            <a:r>
              <a:t> · </a:t>
            </a:r>
            <a:r>
              <a:rPr>
                <a:hlinkClick xmlns:r="http://schemas.openxmlformats.org/officeDocument/2006/relationships" r:id="R06d1797d8a784749"/>
              </a:rPr>
              <a:t>Quelle öffnen (bundesverfassungsgericht.de)</a:t>
            </a:r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2A617-7D99-465A-BAAD-8ACC044D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6 · Seite 2/2</a:t>
            </a:r>
          </a:p>
        </p:txBody>
      </p:sp>
    </p:spTree>
    <p:extLst>
      <p:ext uri="{BB962C8B-B14F-4D97-AF65-F5344CB8AC3E}">
        <p14:creationId xmlns:p14="http://schemas.microsoft.com/office/powerpoint/2010/main" val="11804545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2786E-F8BD-4BFC-B6DB-98343767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D7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D7D1"/>
                </a:solidFill>
                <a:latin typeface="Arial"/>
                <a:ea typeface="Arial"/>
                <a:cs typeface="Arial"/>
              </a:rPr>
              <a:t>ERST TATSACHEN, DANN RECHT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C1CA2-CEF7-4C70-9BCA-7A3743EF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Fünf Fragen vor der Entscheidung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CE3E7-F5B1-4D9D-A70B-C16B6E07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9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9D7D1"/>
                </a:solidFill>
                <a:latin typeface="Arial"/>
                <a:ea typeface="Arial"/>
                <a:cs typeface="Arial"/>
              </a:rPr>
              <a:t>1 Tod feststellen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0F666-9951-4E70-95BB-23C06A63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Ist der irreversible Hirnfunktionsausfall nach der einschlägigen Richtlinie der Bundesärztekammer sicher festgestellt? Die Diagnostik umfasst Voraussetzungen, klinische Ausfallsymptome und den Nachweis der Irreversibilität.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A8A3E-7601-4F04-96A5-4DE0C103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89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9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9D7D1"/>
                </a:solidFill>
                <a:latin typeface="Arial"/>
                <a:ea typeface="Arial"/>
                <a:cs typeface="Arial"/>
              </a:rPr>
              <a:t>2 Prognose klären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59ED1-A405-4B03-8A64-528BBD2D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1112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Welche realistische Überlebenschance hat die Leibesfrucht, mit welcher Belastung und in welchem Zeitraum?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13DA1-E35F-4A18-8287-CFE632EB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9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9D7D1"/>
                </a:solidFill>
                <a:latin typeface="Arial"/>
                <a:ea typeface="Arial"/>
                <a:cs typeface="Arial"/>
              </a:rPr>
              <a:t>3 Willen ermitteln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2B81A-0A5D-4B28-84E8-24C84C52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Gibt es frühere Äußerungen der Frau zur Schwangerschaft, Intensivmedizin, Organspende oder zum Umgang mit ihrem Körper nach dem Tod?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110F5-BB28-4745-8A69-3ED15228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D8D5"/>
                </a:solidFill>
                <a:latin typeface="Arial"/>
                <a:ea typeface="Arial"/>
                <a:cs typeface="Arial"/>
              </a:defRPr>
            </a:pPr>
            <a:r>
              <a:t>Quelle: Recht Medizinisch · allgemeine Lernfassung. Zur Todesfeststellung: Bundesärztekammer, Richtlinie zum irreversiblen Hirnfunktionsausfall, Fünfte Fortschreibung (2022), geprüft 07.09.2026 · </a:t>
            </a:r>
            <a:r>
              <a:rPr>
                <a:hlinkClick xmlns:r="http://schemas.openxmlformats.org/officeDocument/2006/relationships" r:id="R84e4d52aa1b449a7"/>
              </a:rPr>
              <a:t>Quelle öffnen (wbbaek.de)</a:t>
            </a:r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E609E-F3C6-44EB-BB16-4AC89485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D8D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D8D5"/>
                </a:solidFill>
                <a:latin typeface="Arial"/>
                <a:ea typeface="Arial"/>
                <a:cs typeface="Arial"/>
              </a:rPr>
              <a:t>Recht Medizinisch · Folie 7 · Seite 1/2</a:t>
            </a:r>
          </a:p>
        </p:txBody>
      </p:sp>
    </p:spTree>
    <p:extLst>
      <p:ext uri="{BB962C8B-B14F-4D97-AF65-F5344CB8AC3E}">
        <p14:creationId xmlns:p14="http://schemas.microsoft.com/office/powerpoint/2010/main" val="1846240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C1747-26EA-4E13-80D7-C49CA0BF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D7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D7D1"/>
                </a:solidFill>
                <a:latin typeface="Arial"/>
                <a:ea typeface="Arial"/>
                <a:cs typeface="Arial"/>
              </a:rPr>
              <a:t>ERST TATSACHEN, DANN RECHT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56A7A-0B40-4FC7-A413-D43A4AD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Fünf Fragen vor der Entscheidung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E16AB-50F0-4F05-8253-EDF5E52F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9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9D7D1"/>
                </a:solidFill>
                <a:latin typeface="Arial"/>
                <a:ea typeface="Arial"/>
                <a:cs typeface="Arial"/>
              </a:rPr>
              <a:t>4 Rollen trennen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A79A0-F9CE-4478-A558-CA25620C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Wer liefert Tatsachen, wer vertritt wessen Interessen, wer prüft die medizinische Indikation und wer entscheidet rechtlich?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773F2-2D9B-42A0-8285-37A5A9F2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622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9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9D7D1"/>
                </a:solidFill>
                <a:latin typeface="Arial"/>
                <a:ea typeface="Arial"/>
                <a:cs typeface="Arial"/>
              </a:rPr>
              <a:t>5 Prozess sichern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FE864-95D4-44C8-9C63-760E2CC3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Zeitfenster, Dissens, Ethikberatung, gerichtliche Kontaktaufnahme und Gründe der Zwischenentscheidung dokumentieren.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DFA0A-1D11-4447-84A7-2C18143E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9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9D7D1"/>
                </a:solidFill>
                <a:latin typeface="Arial"/>
                <a:ea typeface="Arial"/>
                <a:cs typeface="Arial"/>
              </a:rPr>
              <a:t>💡 Praxis-Merksatz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46DC4-897E-4F73-82AE-CF74B958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 Grenzfällen ist ein transparentes, überprüfbares Verfahren oft rechtlich wichtiger als eine scheinbar schnelle Gewissheit.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3982E-2EE6-4AB2-A0A6-72E0474E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D8D5"/>
                </a:solidFill>
                <a:latin typeface="Arial"/>
                <a:ea typeface="Arial"/>
                <a:cs typeface="Arial"/>
              </a:defRPr>
            </a:pPr>
            <a:r>
              <a:t>Quelle: Recht Medizinisch · allgemeine Lernfassung. Zur Todesfeststellung: Bundesärztekammer, Richtlinie zum irreversiblen Hirnfunktionsausfall, Fünfte Fortschreibung (2022), geprüft 07.09.2026 · </a:t>
            </a:r>
            <a:r>
              <a:rPr>
                <a:hlinkClick xmlns:r="http://schemas.openxmlformats.org/officeDocument/2006/relationships" r:id="Rd792f39239354cac"/>
              </a:rPr>
              <a:t>Quelle öffnen (wbbaek.de)</a:t>
            </a:r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45FEF-8642-4613-BBCC-262681E2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D8D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D8D5"/>
                </a:solidFill>
                <a:latin typeface="Arial"/>
                <a:ea typeface="Arial"/>
                <a:cs typeface="Arial"/>
              </a:rPr>
              <a:t>Recht Medizinisch · Folie 7 · Seite 2/2</a:t>
            </a:r>
          </a:p>
        </p:txBody>
      </p:sp>
    </p:spTree>
    <p:extLst>
      <p:ext uri="{BB962C8B-B14F-4D97-AF65-F5344CB8AC3E}">
        <p14:creationId xmlns:p14="http://schemas.microsoft.com/office/powerpoint/2010/main" val="16887192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F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9B7C2-3647-41ED-A2B0-617BB57E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AG HERSBRUCK · BESCHLUSS 1992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1352B-49D3-43AF-87C7-9F3621E8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Eine umstrittene Zwischenlösung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4AFB1-565F-4C01-89F5-30F241CC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⚖ Entscheidung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FE5E2-BEBE-47D9-B8A0-293DF12D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112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AG Hersbruck · 16.10.1992 · XVII 1556/92 · damals als nicht rechtskräftig veröffentlicht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F9324-B832-46B4-8E21-78C6C047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📚 Fundstellen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B61AA-F2CF-4FB4-BB0F-78585F43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112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NJW 1992, 3245 · FamRZ 1992, 1471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F5D4E-F5AF-421A-8702-D6C7CA7C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🧩 Sachverhalt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F142D-8746-44A5-B255-C78D4B8F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Das Gericht bestellte für die hirntote Schwangere eine vorläufige Betreuerin, obwohl es die Frau als rechtlich tot ansah. Kreislauf und Atmung wurden wegen der Schwangerschaft künstlich aufrechterhalten.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499F8-C333-46C0-9C40-EF8A7513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95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❝ Tragende Aussage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7DDC4-CC11-4E38-89FD-80C9C390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767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Nach dem Beschluss bedurfte das Abschalten der funktionserhaltenden Apparate vor der Entbindung oder dem Tod des ungeborenen Kindes einer gerichtlichen Genehmigung. Danach sollte dieser Genehmigungsvorbehalt entfallen.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C2E8E-E533-4164-8A8C-685E4372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Quelle: AG Hersbruck, Beschl. v. 16.10.1992 – XVII 1556/92, NJW 1992, 3245; veröffentlichter Beschlusstext geprüft am 09.09.2026 · </a:t>
            </a:r>
            <a:r>
              <a:rPr>
                <a:hlinkClick xmlns:r="http://schemas.openxmlformats.org/officeDocument/2006/relationships" r:id="R7434f91a82f446bc"/>
              </a:rPr>
              <a:t>Quelle öffnen (beck-online.beck.de)</a:t>
            </a:r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7CFF0-7BFE-4BFD-A4EE-29EC00D3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8 · Seite 1/2</a:t>
            </a:r>
          </a:p>
        </p:txBody>
      </p:sp>
    </p:spTree>
    <p:extLst>
      <p:ext uri="{BB962C8B-B14F-4D97-AF65-F5344CB8AC3E}">
        <p14:creationId xmlns:p14="http://schemas.microsoft.com/office/powerpoint/2010/main" val="1182448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F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72750-5711-4C85-825E-7904D55B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AG HERSBRUCK · BESCHLUSS 1992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B3858-8B3A-40E8-8006-CD6B93A1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Eine umstrittene Zwischenlösung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7E65B-29D3-4769-98AE-7F258CC7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🩺 Praxis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04DDB-978A-4907-8CEA-7CFEA258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Der Beschluss beantwortete vor allem die damalige Vertretungs- und Genehmigungsfrage. Er ist keine allgemeine höchstrichterliche Pflicht zur Fortführung intensivmedizinischer Maßnahmen.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6A910-5F59-439B-9CA6-1FC99D8B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622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💡 Praxis-Merksatz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329A6-091B-4AD6-BA98-DE07D6A5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Die juristisch korrekte Bezeichnung lautet Beschluss; Reichweite und Begründung der Entscheidung sind bis heute umstritten.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AD1BF-19B5-43D5-A284-D9D10B6E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Quelle: AG Hersbruck, Beschl. v. 16.10.1992 – XVII 1556/92, NJW 1992, 3245; veröffentlichter Beschlusstext geprüft am 09.09.2026 · </a:t>
            </a:r>
            <a:r>
              <a:rPr>
                <a:hlinkClick xmlns:r="http://schemas.openxmlformats.org/officeDocument/2006/relationships" r:id="Rf37ce9e060c14160"/>
              </a:rPr>
              <a:t>Quelle öffnen (beck-online.beck.de)</a:t>
            </a:r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19D8A-F60D-47FE-B622-2A1826F3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8 · Seite 2/2</a:t>
            </a:r>
          </a:p>
        </p:txBody>
      </p:sp>
    </p:spTree>
    <p:extLst>
      <p:ext uri="{BB962C8B-B14F-4D97-AF65-F5344CB8AC3E}">
        <p14:creationId xmlns:p14="http://schemas.microsoft.com/office/powerpoint/2010/main" val="21464422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CDB1E-4E52-47F5-B2D0-B131B274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AG HERSBRUCK · ABWÄGUNG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60C03-41C5-43F7-87A0-A0849062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Welche Interessen gaben den Ausschlag?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5D2DC-C543-4DE7-8252-5CEB7089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☷ Kernpunkte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97334-38E7-43AE-B488-41CA6B17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1125200" cy="360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• Das Gericht ging vom rechtlichen Tod der Schwangeren aus.</a:t>
            </a:r>
            <a:br/>
            <a:r>
              <a:t>• Zu berücksichtigen blieben Menschenwürde, postmortaler Persönlichkeitsschutz, frühere Willensäußerungen und die Totenfürsorge der Angehörigen.</a:t>
            </a:r>
            <a:br/>
            <a:r>
              <a:t>• Gegen die Fortführung sprach die Gefahr, den Körper nur noch funktional als Mittel für die Schwangerschaft zu behandeln.</a:t>
            </a:r>
            <a:br/>
            <a:r>
              <a:t>• Eine laufende Einwilligung der Patientin konnte nach der angenommenen Todesfeststellung nicht mehr konstruiert werden.</a:t>
            </a:r>
            <a:br/>
            <a:r>
              <a:t>• Das Gericht erkannte der ungeborenen Leibesfrucht ein eigenständiges, rechtlich schutzwürdiges Lebensinteresse zu.</a:t>
            </a:r>
            <a:br/>
            <a:r>
              <a:t>• Entscheidend war die konkrete medizinische Chance, die Schwangerschaft bis zu Geburt oder Lebensfähigkeit fortzuführen.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91CFA-5AA1-4C3D-966D-BA6962FC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Quelle: AG Hersbruck, Beschl. v. 16.10.1992 – XVII 1556/92 · </a:t>
            </a:r>
            <a:r>
              <a:rPr>
                <a:hlinkClick xmlns:r="http://schemas.openxmlformats.org/officeDocument/2006/relationships" r:id="Rd8cb8b696195401f"/>
              </a:rPr>
              <a:t>Quelle öffnen (beck-online.beck.de)</a:t>
            </a:r>
            <a:r>
              <a:t> · Kritische Einordnung: Neue Kriminalpolitik 1993, 9–11 · </a:t>
            </a:r>
            <a:r>
              <a:rPr>
                <a:hlinkClick xmlns:r="http://schemas.openxmlformats.org/officeDocument/2006/relationships" r:id="Rf565c9efc718409b"/>
              </a:rPr>
              <a:t>Quelle öffnen (doi.org)</a:t>
            </a:r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034A6-0117-4F3F-B60A-4E68BFCD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9 · Seite 1/2</a:t>
            </a:r>
          </a:p>
        </p:txBody>
      </p:sp>
    </p:spTree>
    <p:extLst>
      <p:ext uri="{BB962C8B-B14F-4D97-AF65-F5344CB8AC3E}">
        <p14:creationId xmlns:p14="http://schemas.microsoft.com/office/powerpoint/2010/main" val="7294071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9F85E-6E3E-4C37-B86A-D212652A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AG HERSBRUCK · ABWÄGUNG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9258B-EF97-498D-972F-050AC0FE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Welche Interessen gaben den Ausschlag?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AB957-4115-4EAE-B8BE-D1E4C2D2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☷ Kernpunkte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6E591-C09A-4A89-885F-C17D0939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11252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• Solange eine reale Chance bestand, gewichtete das Gericht dieses Lebensinteresse höher als die entgegenstehenden postmortalen Belange.</a:t>
            </a:r>
            <a:br/>
            <a:r>
              <a:t>• Deshalb sollte ein vorzeitiges Abschalten nicht allein dem Betreuer überlassen, sondern gerichtlich genehmigt werden.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F54D4-0E0B-48FE-83EE-7EB31660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💡 Praxis-Merksatz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AC59C-FC00-4174-BAC5-CC25C42C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Die Priorisierung war prognoseabhängig, nicht absolut: Nach Geburt oder Tod der Leibesfrucht sollte die Genehmigungspflicht entfallen. Umstritten bleiben gesetzliche Grundlage und mögliche Instrumentalisierung des weiblichen Körpers.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B351A-6152-4E1E-80AD-40899427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Quelle: AG Hersbruck, Beschl. v. 16.10.1992 – XVII 1556/92 · </a:t>
            </a:r>
            <a:r>
              <a:rPr>
                <a:hlinkClick xmlns:r="http://schemas.openxmlformats.org/officeDocument/2006/relationships" r:id="R6a394b6e7f53452b"/>
              </a:rPr>
              <a:t>Quelle öffnen (beck-online.beck.de)</a:t>
            </a:r>
            <a:r>
              <a:t> · Kritische Einordnung: Neue Kriminalpolitik 1993, 9–11 · </a:t>
            </a:r>
            <a:r>
              <a:rPr>
                <a:hlinkClick xmlns:r="http://schemas.openxmlformats.org/officeDocument/2006/relationships" r:id="R6e1767a877a445c4"/>
              </a:rPr>
              <a:t>Quelle öffnen (doi.org)</a:t>
            </a:r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A9058-648E-49E9-87B2-592679C6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9 · Seite 2/2</a:t>
            </a:r>
          </a:p>
        </p:txBody>
      </p:sp>
    </p:spTree>
    <p:extLst>
      <p:ext uri="{BB962C8B-B14F-4D97-AF65-F5344CB8AC3E}">
        <p14:creationId xmlns:p14="http://schemas.microsoft.com/office/powerpoint/2010/main" val="5607167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EF9C7-99ED-4167-9D61-96B24054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RECHTSSTAND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007DE-86C6-41FA-A746-74CA4F8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Was gilt heute?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0570F-FAE6-437E-95F7-96FD51F3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Historische Entscheidung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C3C63-034E-428C-8288-943C9DD7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11252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• vorläufige Betreuung trotz angenommener rechtlicher Todesfeststellung</a:t>
            </a:r>
            <a:br/>
            <a:r>
              <a:t>• gerichtlicher Genehmigungsvorbehalt für ein Abschalten vor Entbindung oder Tod der Leibesfrucht</a:t>
            </a:r>
            <a:br/>
            <a:r>
              <a:t>• keine höchstrichterliche abschließende Güterabwägung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D0712-E13C-4855-904B-5147004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Heutiger Rechtsrahmen: § 1870 BGB und § 1874 Abs. 2 BGB. Amtliche Gesetzestexte: </a:t>
            </a:r>
            <a:r>
              <a:rPr>
                <a:hlinkClick xmlns:r="http://schemas.openxmlformats.org/officeDocument/2006/relationships" r:id="R2d8878aef052404e"/>
              </a:rPr>
              <a:t>§ 1870 BGB öffnen</a:t>
            </a:r>
            <a:r>
              <a:t> und </a:t>
            </a:r>
            <a:r>
              <a:rPr>
                <a:hlinkClick xmlns:r="http://schemas.openxmlformats.org/officeDocument/2006/relationships" r:id="Ra6db75d1570a42e1"/>
              </a:rPr>
              <a:t>§ 1874 BGB öffnen</a:t>
            </a:r>
            <a:r>
              <a:t> · geprüft am 08.09.2026. Diese Normen belegen die heutige Rechtslage; sie sind kein Beleg für die historische Entscheidung.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88C40-024A-4498-9CAF-13D134F5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10 · Seite 1/2</a:t>
            </a:r>
          </a:p>
        </p:txBody>
      </p:sp>
    </p:spTree>
    <p:extLst>
      <p:ext uri="{BB962C8B-B14F-4D97-AF65-F5344CB8AC3E}">
        <p14:creationId xmlns:p14="http://schemas.microsoft.com/office/powerpoint/2010/main" val="13324788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72D53-1324-4B09-85A7-8F0FD1A0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RECHTSSTAND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6AB50-EA16-4717-877C-ADDC3D53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Was gilt heute?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F5506-B487-4100-B382-1B128F2E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Heutiger Rechtsrahmen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6D6E6-4262-40D5-8901-AAEB4E1B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111252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• § 1870 BGB: Die Betreuung endet mit dem Tod.</a:t>
            </a:r>
            <a:br/>
            <a:r>
              <a:t>• § 1874 Abs. 2 BGB regelt daneben unaufschiebbare Angelegenheiten im bisherigen Aufgabenkreis, bis der Erbe sie besorgen kann. Daraus folgt keine allgemeine Befugnis zur Fortführung einer Schwangerschaft nach dem Tod.</a:t>
            </a:r>
            <a:br/>
            <a:r>
              <a:t>• Medizinische Indikation und Prognose bleiben eigenständige ärztliche Fragen.</a:t>
            </a:r>
            <a:br/>
            <a:r>
              <a:t>• Grundrechte, Strafrecht, Totenfürsorge und Verfahrenszuständigkeit müssen getrennt geprüft werden.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C0995-E25F-4F45-9F73-5ECE6874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💡 Praxis-Merksatz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3B999-42EF-435C-852B-CA02CF47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Lehrziel ist nicht eine Musterlösung, sondern die saubere Trennung von Tatsachen, Rechtspositionen, Zuständigkeiten und Entscheidungsgrenzen.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0A3E3-E950-48DF-AA53-CF2A4310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Heutiger Rechtsrahmen: § 1870 BGB und § 1874 Abs. 2 BGB. Amtliche Gesetzestexte: </a:t>
            </a:r>
            <a:r>
              <a:rPr>
                <a:hlinkClick xmlns:r="http://schemas.openxmlformats.org/officeDocument/2006/relationships" r:id="R7d6a2039c3d44cba"/>
              </a:rPr>
              <a:t>§ 1870 BGB öffnen</a:t>
            </a:r>
            <a:r>
              <a:t> und </a:t>
            </a:r>
            <a:r>
              <a:rPr>
                <a:hlinkClick xmlns:r="http://schemas.openxmlformats.org/officeDocument/2006/relationships" r:id="R7f492458de8345e8"/>
              </a:rPr>
              <a:t>§ 1874 BGB öffnen</a:t>
            </a:r>
            <a:r>
              <a:t> · geprüft am 08.09.2026. Diese Normen belegen die heutige Rechtslage; sie sind kein Beleg für die historische Entscheidung.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61650-A7EE-4FD6-8D0F-44B75BE8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10 · Seite 2/2</a:t>
            </a:r>
          </a:p>
        </p:txBody>
      </p:sp>
    </p:spTree>
    <p:extLst>
      <p:ext uri="{BB962C8B-B14F-4D97-AF65-F5344CB8AC3E}">
        <p14:creationId xmlns:p14="http://schemas.microsoft.com/office/powerpoint/2010/main" val="8412620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0CDA4-CDB3-44E1-B0F5-E733FD31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D7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D7D1"/>
                </a:solidFill>
                <a:latin typeface="Arial"/>
                <a:ea typeface="Arial"/>
                <a:cs typeface="Arial"/>
              </a:rPr>
              <a:t>KURZVISITE · 22.06.2026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AA7F8-B0CF-48C9-93AB-5616FCAD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Vom Podcast zur Falllösung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7F78E-26E3-4770-8282-73787F3E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5486400" cy="2009775"/>
          </a:xfrm>
          <a:prstGeom xmlns:a="http://schemas.openxmlformats.org/drawingml/2006/main" prst="roundRect">
            <a:avLst>
              <a:gd name="adj" fmla="val 3791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F33C1-FE6B-46C9-87DF-E1326001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🎙 Podcast-Folge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2C1F1-37F9-467B-A413-7EBAAAF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54102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Der Erlanger Baby-Fall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A9702-A606-4BE7-ABCB-1A0E90D9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1125"/>
            <a:ext cx="5486400" cy="2009775"/>
          </a:xfrm>
          <a:prstGeom xmlns:a="http://schemas.openxmlformats.org/drawingml/2006/main" prst="roundRect">
            <a:avLst>
              <a:gd name="adj" fmla="val 3791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FC278-BB55-437D-BF1A-E0EFF4D1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573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🧩 Fall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2DAD5-99CF-4922-9C6B-A160A03C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95475"/>
            <a:ext cx="54102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Die Kurzvisite stellt genau die Frage, mit der der Kurs beginnt: Intensivmaßnahmen beenden oder dem ungeborenen Kind eine Überlebenschance geben? Im Lernkurs folgt auf die Abstimmung die juristische Rekonstruktion.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8A9D9-DF12-49BB-9FE9-FBE9D877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86150"/>
            <a:ext cx="548640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2014D-815E-4FB4-B50D-856BFC8D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☑ Arbeitsaufträge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C9EAA-D7A9-4656-87F0-94C42BF7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54102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• Welche Tatsache würde Ihre Entscheidung am stärksten verändern?</a:t>
            </a:r>
            <a:br/>
            <a:r>
              <a:t>• Welche Rolle darf ein Gericht übernehmen – und welche nicht?</a:t>
            </a:r>
            <a:br/>
            <a:r>
              <a:t>• Wie würden Sie den Dissens in zwei neutralen Sätzen dokumentieren?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B2891-BBD0-4A2C-B4F2-EF2E6385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86150"/>
            <a:ext cx="548640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0AE77-5B7C-4782-AC21-0401A8FD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62350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Ihr Lernweg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E518A-2CF3-45B7-8D70-22F37E2F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54102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• Echter Fall</a:t>
            </a:r>
            <a:br/>
            <a:r>
              <a:t>• Eigene Entscheidung</a:t>
            </a:r>
            <a:br/>
            <a:r>
              <a:t>• Drei Rechtsfragen</a:t>
            </a:r>
            <a:br/>
            <a:r>
              <a:t>• Strukturierter Entscheidungsweg</a:t>
            </a:r>
            <a:br/>
            <a:r>
              <a:t>• Drei Kernerkenntnisse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92199-3847-4A4E-8374-13250582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D8D5"/>
                </a:solidFill>
                <a:latin typeface="Arial"/>
                <a:ea typeface="Arial"/>
                <a:cs typeface="Arial"/>
              </a:defRPr>
            </a:pPr>
            <a:r>
              <a:t>Quelle: Recht Medizinisch, Kurzvisite „Der Erlanger Baby-Fall“, Apple Podcasts/Spotify, 22.06.2026 · SPIEGEL-Link in der Episodenbeschreibung · </a:t>
            </a:r>
            <a:r>
              <a:rPr>
                <a:hlinkClick xmlns:r="http://schemas.openxmlformats.org/officeDocument/2006/relationships" r:id="R6b8219ff0f5f4430"/>
              </a:rPr>
              <a:t>Quelle öffnen (podcasts.apple.com)</a:t>
            </a:r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6BD78-45E9-46A0-BECD-58FB6B7D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D8D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D8D5"/>
                </a:solidFill>
                <a:latin typeface="Arial"/>
                <a:ea typeface="Arial"/>
                <a:cs typeface="Arial"/>
              </a:rPr>
              <a:t>Recht Medizinisch · Folie 11 · Seite 1/1</a:t>
            </a:r>
          </a:p>
        </p:txBody>
      </p:sp>
    </p:spTree>
    <p:extLst>
      <p:ext uri="{BB962C8B-B14F-4D97-AF65-F5344CB8AC3E}">
        <p14:creationId xmlns:p14="http://schemas.microsoft.com/office/powerpoint/2010/main" val="15749588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DF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5AD5C-7A83-4101-9C63-9BEEC5CE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LEITGEDANKE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1EB4D-8A56-4BB3-8BFD-BA57489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D33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071D33"/>
                </a:solidFill>
                <a:latin typeface="Georgia"/>
                <a:ea typeface="Georgia"/>
                <a:cs typeface="Georgia"/>
              </a:rPr>
              <a:t>Der Perspektivwechsel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0B85C-FF47-45EB-826A-DAE15604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54864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DF5F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11275-B469-404B-9A4F-7DD2D14B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❝ Zitat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C686A-CF52-45C8-87D8-6D483AD9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5410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Recht haben heißt nicht automatisch Recht bekommen.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350B0-0C3E-47A2-B33E-92BAAE82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1125"/>
            <a:ext cx="54864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EED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25C8A-D4BD-474A-A03D-6736372C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57325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🧭 Einordnung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FEF2D-6CEE-4025-84CD-E5F6E8F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95475"/>
            <a:ext cx="5410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Entscheidend sind Tatsachen, Dokumentation, Beweise, Fristen, Kommunikation – und der richtige Verfahrensweg.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A2819-B196-4C7D-AFB0-1747C29A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90850"/>
            <a:ext cx="54864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7EDC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6076C-6278-4C1F-BAAF-C512FDC6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541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💡 Praxis-Merksatz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91C80-8481-4F40-9379-7AE948A7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5410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1D33"/>
                </a:solidFill>
                <a:latin typeface="Arial"/>
                <a:ea typeface="Arial"/>
                <a:cs typeface="Arial"/>
              </a:defRPr>
            </a:pPr>
            <a:r>
              <a:t>Medizinrecht wird praktisch, sobald mehrere Akten dieselbe Behandlung unterschiedlich lesen.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EE4DC-FB10-46AB-A448-34BAD672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t>Quelle: Recht Medizinisch · allgemeine Lernfassung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41244-F550-4710-B0AD-5F0730A7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D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D75"/>
                </a:solidFill>
                <a:latin typeface="Arial"/>
                <a:ea typeface="Arial"/>
                <a:cs typeface="Arial"/>
              </a:rPr>
              <a:t>Recht Medizinisch · Folie 12 · Seite 1/1</a:t>
            </a:r>
          </a:p>
        </p:txBody>
      </p:sp>
    </p:spTree>
    <p:extLst>
      <p:ext uri="{BB962C8B-B14F-4D97-AF65-F5344CB8AC3E}">
        <p14:creationId xmlns:p14="http://schemas.microsoft.com/office/powerpoint/2010/main" val="132358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2026-09-30T08:43:15.1870000Z</dcterms:created>
  <dcterms:modified xsi:type="dcterms:W3CDTF">2026-09-30T08:43:15.1870000Z</dcterms:modified>
</coreProperties>
</file>