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409d188c4694e33" /><Relationship Type="http://schemas.openxmlformats.org/officeDocument/2006/relationships/extended-properties" Target="/docProps/app.xml" Id="R4a32dc1648414854" /><Relationship Type="http://schemas.openxmlformats.org/officeDocument/2006/relationships/officeDocument" Target="/ppt/presentation.xml" Id="Racb9be65436846a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d542e0918d44275"/>
  </p:sldMasterIdLst>
  <p:notesMasterIdLst>
    <p:notesMasterId xmlns:r="http://schemas.openxmlformats.org/officeDocument/2006/relationships" r:id="R888205ab39ef4a93"/>
  </p:notesMasterIdLst>
  <p:sldIdLst>
    <p:sldId xmlns:r="http://schemas.openxmlformats.org/officeDocument/2006/relationships" id="256" r:id="R4b265174374d4121"/>
    <p:sldId xmlns:r="http://schemas.openxmlformats.org/officeDocument/2006/relationships" id="257" r:id="R27b045d260144e96"/>
    <p:sldId xmlns:r="http://schemas.openxmlformats.org/officeDocument/2006/relationships" id="258" r:id="R5aab7c57442a4287"/>
    <p:sldId xmlns:r="http://schemas.openxmlformats.org/officeDocument/2006/relationships" id="259" r:id="R4d485444591343c4"/>
    <p:sldId xmlns:r="http://schemas.openxmlformats.org/officeDocument/2006/relationships" id="260" r:id="R8757bc79a23c4f21"/>
    <p:sldId xmlns:r="http://schemas.openxmlformats.org/officeDocument/2006/relationships" id="261" r:id="R2d898e55f640403a"/>
    <p:sldId xmlns:r="http://schemas.openxmlformats.org/officeDocument/2006/relationships" id="262" r:id="R1ff5a35088a94102"/>
    <p:sldId xmlns:r="http://schemas.openxmlformats.org/officeDocument/2006/relationships" id="263" r:id="R504c5031b9374f28"/>
    <p:sldId xmlns:r="http://schemas.openxmlformats.org/officeDocument/2006/relationships" id="264" r:id="R578c65d4e05242e7"/>
    <p:sldId xmlns:r="http://schemas.openxmlformats.org/officeDocument/2006/relationships" id="265" r:id="Rc2ac4e5b86264e86"/>
    <p:sldId xmlns:r="http://schemas.openxmlformats.org/officeDocument/2006/relationships" id="266" r:id="Rfdb6c0b1814e410d"/>
    <p:sldId xmlns:r="http://schemas.openxmlformats.org/officeDocument/2006/relationships" id="267" r:id="Re2086f6fdb0045bd"/>
    <p:sldId xmlns:r="http://schemas.openxmlformats.org/officeDocument/2006/relationships" id="268" r:id="Ra41e29d6ff89422c"/>
    <p:sldId xmlns:r="http://schemas.openxmlformats.org/officeDocument/2006/relationships" id="269" r:id="R6ab1adc6a7804984"/>
    <p:sldId xmlns:r="http://schemas.openxmlformats.org/officeDocument/2006/relationships" id="270" r:id="R7281596a6a5f493d"/>
    <p:sldId xmlns:r="http://schemas.openxmlformats.org/officeDocument/2006/relationships" id="271" r:id="Rb02ddfac17f44fc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9556c4dbbc34545" /><Relationship Type="http://schemas.openxmlformats.org/officeDocument/2006/relationships/slideMaster" Target="/ppt/slideMasters/slideMaster1.xml" Id="R6d542e0918d44275" /><Relationship Type="http://schemas.openxmlformats.org/officeDocument/2006/relationships/notesMaster" Target="/ppt/notesMasters/notesMaster1.xml" Id="R888205ab39ef4a93" /><Relationship Type="http://schemas.openxmlformats.org/officeDocument/2006/relationships/presProps" Target="/ppt/presProps.xml" Id="R503e3d8748cb48e0" /><Relationship Type="http://schemas.openxmlformats.org/officeDocument/2006/relationships/tableStyles" Target="/ppt/tableStyles.xml" Id="Rd142149cfd5c45b4" /><Relationship Type="http://schemas.openxmlformats.org/officeDocument/2006/relationships/slide" Target="/ppt/slides/slide1.xml" Id="R4b265174374d4121" /><Relationship Type="http://schemas.openxmlformats.org/officeDocument/2006/relationships/slide" Target="/ppt/slides/slide2.xml" Id="R27b045d260144e96" /><Relationship Type="http://schemas.openxmlformats.org/officeDocument/2006/relationships/slide" Target="/ppt/slides/slide3.xml" Id="R5aab7c57442a4287" /><Relationship Type="http://schemas.openxmlformats.org/officeDocument/2006/relationships/slide" Target="/ppt/slides/slide4.xml" Id="R4d485444591343c4" /><Relationship Type="http://schemas.openxmlformats.org/officeDocument/2006/relationships/slide" Target="/ppt/slides/slide5.xml" Id="R8757bc79a23c4f21" /><Relationship Type="http://schemas.openxmlformats.org/officeDocument/2006/relationships/slide" Target="/ppt/slides/slide6.xml" Id="R2d898e55f640403a" /><Relationship Type="http://schemas.openxmlformats.org/officeDocument/2006/relationships/slide" Target="/ppt/slides/slide7.xml" Id="R1ff5a35088a94102" /><Relationship Type="http://schemas.openxmlformats.org/officeDocument/2006/relationships/slide" Target="/ppt/slides/slide8.xml" Id="R504c5031b9374f28" /><Relationship Type="http://schemas.openxmlformats.org/officeDocument/2006/relationships/slide" Target="/ppt/slides/slide9.xml" Id="R578c65d4e05242e7" /><Relationship Type="http://schemas.openxmlformats.org/officeDocument/2006/relationships/slide" Target="/ppt/slides/slide10.xml" Id="Rc2ac4e5b86264e86" /><Relationship Type="http://schemas.openxmlformats.org/officeDocument/2006/relationships/slide" Target="/ppt/slides/slide11.xml" Id="Rfdb6c0b1814e410d" /><Relationship Type="http://schemas.openxmlformats.org/officeDocument/2006/relationships/slide" Target="/ppt/slides/slide12.xml" Id="Re2086f6fdb0045bd" /><Relationship Type="http://schemas.openxmlformats.org/officeDocument/2006/relationships/slide" Target="/ppt/slides/slide13.xml" Id="Ra41e29d6ff89422c" /><Relationship Type="http://schemas.openxmlformats.org/officeDocument/2006/relationships/slide" Target="/ppt/slides/slide14.xml" Id="R6ab1adc6a7804984" /><Relationship Type="http://schemas.openxmlformats.org/officeDocument/2006/relationships/slide" Target="/ppt/slides/slide15.xml" Id="R7281596a6a5f493d" /><Relationship Type="http://schemas.openxmlformats.org/officeDocument/2006/relationships/slide" Target="/ppt/slides/slide16.xml" Id="Rb02ddfac17f44fc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88a0c86e787429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2f64db647324707" /><Relationship Type="http://schemas.openxmlformats.org/officeDocument/2006/relationships/notesMaster" Target="/ppt/notesMasters/notesMaster1.xml" Id="R8850ff1bc6174bf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befe2d011e44a9c" /><Relationship Type="http://schemas.openxmlformats.org/officeDocument/2006/relationships/notesMaster" Target="/ppt/notesMasters/notesMaster1.xml" Id="R0ac19400d87148e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a4bb027f4a14730" /><Relationship Type="http://schemas.openxmlformats.org/officeDocument/2006/relationships/notesMaster" Target="/ppt/notesMasters/notesMaster1.xml" Id="R19028b924efd460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c7cbaa9b85747e5" /><Relationship Type="http://schemas.openxmlformats.org/officeDocument/2006/relationships/notesMaster" Target="/ppt/notesMasters/notesMaster1.xml" Id="Rdc54ea46035a484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9dece38788c4562" /><Relationship Type="http://schemas.openxmlformats.org/officeDocument/2006/relationships/notesMaster" Target="/ppt/notesMasters/notesMaster1.xml" Id="Rcc2c217fa1554e6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3b50534b88d4ed8" /><Relationship Type="http://schemas.openxmlformats.org/officeDocument/2006/relationships/notesMaster" Target="/ppt/notesMasters/notesMaster1.xml" Id="R6380c97447004ee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408a7cc803e4d7b" /><Relationship Type="http://schemas.openxmlformats.org/officeDocument/2006/relationships/notesMaster" Target="/ppt/notesMasters/notesMaster1.xml" Id="Rc20de9ea3ec3499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4c74d5105ed4c00" /><Relationship Type="http://schemas.openxmlformats.org/officeDocument/2006/relationships/notesMaster" Target="/ppt/notesMasters/notesMaster1.xml" Id="R57c8d0cc90b0481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4a98a2b432b4bf0" /><Relationship Type="http://schemas.openxmlformats.org/officeDocument/2006/relationships/notesMaster" Target="/ppt/notesMasters/notesMaster1.xml" Id="R40c419a1bd734f4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dcdb25695854924" /><Relationship Type="http://schemas.openxmlformats.org/officeDocument/2006/relationships/notesMaster" Target="/ppt/notesMasters/notesMaster1.xml" Id="R622be6058015462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4b84549aaec4004" /><Relationship Type="http://schemas.openxmlformats.org/officeDocument/2006/relationships/notesMaster" Target="/ppt/notesMasters/notesMaster1.xml" Id="Rd26f5fa00061491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a4f428b731c47d7" /><Relationship Type="http://schemas.openxmlformats.org/officeDocument/2006/relationships/notesMaster" Target="/ppt/notesMasters/notesMaster1.xml" Id="Rb675c9b38e224d4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fdd5ce1afda4b28" /><Relationship Type="http://schemas.openxmlformats.org/officeDocument/2006/relationships/notesMaster" Target="/ppt/notesMasters/notesMaster1.xml" Id="R043f2a215d91487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a236f9310c04ab8" /><Relationship Type="http://schemas.openxmlformats.org/officeDocument/2006/relationships/notesMaster" Target="/ppt/notesMasters/notesMaster1.xml" Id="Ref998b1c190c4c3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fa048bc84054968" /><Relationship Type="http://schemas.openxmlformats.org/officeDocument/2006/relationships/notesMaster" Target="/ppt/notesMasters/notesMaster1.xml" Id="Rba978c84406441a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6502c5c9dd848c3" /><Relationship Type="http://schemas.openxmlformats.org/officeDocument/2006/relationships/notesMaster" Target="/ppt/notesMasters/notesMaster1.xml" Id="R5b5da5aa7f684e3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Quelle: Kurskonzeption des Lernkurses · Recht Medizinisch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Quelle: Recht Medizinisch · allgemeine Lernfassung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Quelle: AG Hersbruck, Beschl. v. 16.10.1992 – XVII 1556/92, NJW 1992, 3245 · DER SPIEGEL, Video v. 29.10.2012 · https://beck-online.beck.de/Bcid/Y-300-Z-NJW-B-1992-S-3245-N-1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Quelle: Podcast Recht Medizinisch, Kurzvisite „Der Erlanger Baby-Fall“, 22.06.2026 · https://podcasts.apple.com/us/podcast/recht-medizinisch/id1896818482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Quelle: AG Hersbruck, Beschl. v. 16.10.1992 – XVII 1556/92, NJW 1992, 3245 · BVerfG, Urt. v. 28.05.1993 – 2 BvF 2/90 · https://beck-online.beck.de/Bcid/Y-300-Z-NJW-B-1992-S-3245-N-1 · https://www.bundesverfassungsgericht.de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Quelle: Recht Medizinisch · allgemeine Lernfassung. Zur Todesfeststellung: Bundesärztekammer, Richtlinie zum irreversiblen Hirnfunktionsausfall, Fünfte Fortschreibung (2022), geprüft 07.09.2026 · https://www.wbbaek.de/richtlinien-leitlinien/irreversibler-hirnfunktionsausfall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Quelle: Recht Medizinisch · allgemeine Lernfassung. Zur Todesfeststellung: Bundesärztekammer, Richtlinie zum irreversiblen Hirnfunktionsausfall, Fünfte Fortschreibung (2022), geprüft 07.09.2026 · https://www.wbbaek.de/richtlinien-leitlinien/irreversibler-hirnfunktionsausfall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Quelle: AG Hersbruck, Beschl. v. 16.10.1992 – XVII 1556/92, NJW 1992, 3245; veröffentlichter Beschlusstext geprüft am 09.09.2026 · https://beck-online.beck.de/Bcid/Y-300-Z-NJW-B-1992-S-3245-N-1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Quelle: AG Hersbruck, Beschl. v. 16.10.1992 – XVII 1556/92, NJW 1992, 3245; veröffentlichter Beschlusstext geprüft am 09.09.2026 · https://beck-online.beck.de/Bcid/Y-300-Z-NJW-B-1992-S-3245-N-1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Quelle: AG Hersbruck, Beschl. v. 16.10.1992 – XVII 1556/92 · https://beck-online.beck.de/Bcid/Y-300-Z-NJW-B-1992-S-3245-N-1 · Kritische Einordnung: Neue Kriminalpolitik 1993, 9–11 · https://doi.org/10.5771/0934-9200-1993-1-9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Quelle: AG Hersbruck, Beschl. v. 16.10.1992 – XVII 1556/92 · https://beck-online.beck.de/Bcid/Y-300-Z-NJW-B-1992-S-3245-N-1 · Kritische Einordnung: Neue Kriminalpolitik 1993, 9–11 · https://doi.org/10.5771/0934-9200-1993-1-9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Heutiger Rechtsrahmen: § 1870 BGB und § 1874 Abs. 2 BGB. Amtliche Gesetzestexte: https://www.gesetze-im-internet.de/bgb/__1870.html und https://www.gesetze-im-internet.de/bgb/__1874.html · geprüft am 08.09.2026. Diese Normen belegen die heutige Rechtslage; sie sind kein Beleg für die historische Entscheidung.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Heutiger Rechtsrahmen: § 1870 BGB und § 1874 Abs. 2 BGB. Amtliche Gesetzestexte: https://www.gesetze-im-internet.de/bgb/__1870.html und https://www.gesetze-im-internet.de/bgb/__1874.html · geprüft am 08.09.2026. Diese Normen belegen die heutige Rechtslage; sie sind kein Beleg für die historische Entscheidung.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Quelle: Recht Medizinisch, Kurzvisite „Der Erlanger Baby-Fall“, Apple Podcasts/Spotify, 22.06.2026 · SPIEGEL-Link in der Episodenbeschreibung · https://podcasts.apple.com/us/podcast/recht-medizinisch/id1896818482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Quelle: Recht Medizinisch · allgemeine Lernfassung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7f369b66ac424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a511367f4d4ea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882b4f8df6454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dc4911a857423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4ada9c7027452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fd559eb28249e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5BE70ED-36EC-440D-BAF0-F3F8BD1258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2FFC0BBC-3E1B-40EF-9CA7-2FDA6AB8436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BE87BB5-1194-4AF1-9E67-35360C4A31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862168A-F245-4680-8FF3-18F78B4CD5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74E6805-DE33-465F-9E30-87F1E639C66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685EB8A-9AB2-449B-9C51-0CFAA0F7F5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ABA0C45-0515-4CCD-8256-1ED46F4CA32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9552EE8-B3E9-4825-8985-CBC3F0A55B1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6624F7E-8C86-449E-BF6F-7C411793130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A75A8E3-80E5-4296-BDA6-B09014293F1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9152150024e47fa" /><Relationship Type="http://schemas.openxmlformats.org/officeDocument/2006/relationships/slideLayout" Target="/ppt/slideLayouts/slideLayout1.xml" Id="Raf4bc2c7dbb94302" /><Relationship Type="http://schemas.openxmlformats.org/officeDocument/2006/relationships/slideLayout" Target="/ppt/slideLayouts/slideLayout2.xml" Id="R9b8f4baf747c4044" /><Relationship Type="http://schemas.openxmlformats.org/officeDocument/2006/relationships/slideLayout" Target="/ppt/slideLayouts/slideLayout3.xml" Id="R3b88c9c568d84f9a" /><Relationship Type="http://schemas.openxmlformats.org/officeDocument/2006/relationships/slideLayout" Target="/ppt/slideLayouts/slideLayout4.xml" Id="R29e45884299247fc" /><Relationship Type="http://schemas.openxmlformats.org/officeDocument/2006/relationships/slideLayout" Target="/ppt/slideLayouts/slideLayout5.xml" Id="R8fea4fc49fde4cf1" /><Relationship Type="http://schemas.openxmlformats.org/officeDocument/2006/relationships/slideLayout" Target="/ppt/slideLayouts/slideLayout6.xml" Id="Rf5f0f0e9c4db4ff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f4bc2c7dbb94302"/>
    <p:sldLayoutId xmlns:r="http://schemas.openxmlformats.org/officeDocument/2006/relationships" id="2147483650" r:id="R9b8f4baf747c4044"/>
    <p:sldLayoutId xmlns:r="http://schemas.openxmlformats.org/officeDocument/2006/relationships" id="2147483651" r:id="R3b88c9c568d84f9a"/>
    <p:sldLayoutId xmlns:r="http://schemas.openxmlformats.org/officeDocument/2006/relationships" id="2147483652" r:id="R29e45884299247fc"/>
    <p:sldLayoutId xmlns:r="http://schemas.openxmlformats.org/officeDocument/2006/relationships" id="2147483653" r:id="R8fea4fc49fde4cf1"/>
    <p:sldLayoutId xmlns:r="http://schemas.openxmlformats.org/officeDocument/2006/relationships" id="2147483654" r:id="Rf5f0f0e9c4db4ff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57941b063df48f7" /><Relationship Type="http://schemas.openxmlformats.org/officeDocument/2006/relationships/image" Target="/ppt/media/image.png" Id="Rf3d0034453274b4a" /><Relationship Type="http://schemas.openxmlformats.org/officeDocument/2006/relationships/notesSlide" Target="/ppt/notesSlides/notesSlide1.xml" Id="R1b8fd340f912480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7ebded53d5f4640" /><Relationship Type="http://schemas.openxmlformats.org/officeDocument/2006/relationships/notesSlide" Target="/ppt/notesSlides/notesSlide2.xml" Id="R2a4d0b4b50b6426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2404ba63fb41cb" /><Relationship Type="http://schemas.openxmlformats.org/officeDocument/2006/relationships/notesSlide" Target="/ppt/notesSlides/notesSlide3.xml" Id="R231447e36b884a2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8b9f7a261634869" /><Relationship Type="http://schemas.openxmlformats.org/officeDocument/2006/relationships/hyperlink" Target="https://beck-online.beck.de/Bcid/Y-300-Z-NJW-B-1992-S-3245-N-1" TargetMode="External" Id="R0b052ac0e3954a2b" /><Relationship Type="http://schemas.openxmlformats.org/officeDocument/2006/relationships/notesSlide" Target="/ppt/notesSlides/notesSlide4.xml" Id="Rad9e3ba9990c45c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97585455111469c" /><Relationship Type="http://schemas.openxmlformats.org/officeDocument/2006/relationships/hyperlink" Target="https://podcasts.apple.com/us/podcast/recht-medizinisch/id1896818482" TargetMode="External" Id="R634daece5a70407f" /><Relationship Type="http://schemas.openxmlformats.org/officeDocument/2006/relationships/notesSlide" Target="/ppt/notesSlides/notesSlide5.xml" Id="Rdd19cd698808475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233b7b7b1df40c3" /><Relationship Type="http://schemas.openxmlformats.org/officeDocument/2006/relationships/hyperlink" Target="https://beck-online.beck.de/Bcid/Y-300-Z-NJW-B-1992-S-3245-N-1" TargetMode="External" Id="R5e74c2c24293471f" /><Relationship Type="http://schemas.openxmlformats.org/officeDocument/2006/relationships/hyperlink" Target="https://www.bundesverfassungsgericht.de/" TargetMode="External" Id="R1fca32fbdbf44714" /><Relationship Type="http://schemas.openxmlformats.org/officeDocument/2006/relationships/notesSlide" Target="/ppt/notesSlides/notesSlide6.xml" Id="Re130e1df6fc64e4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469e193c7814f1b" /><Relationship Type="http://schemas.openxmlformats.org/officeDocument/2006/relationships/hyperlink" Target="https://www.wbbaek.de/richtlinien-leitlinien/irreversibler-hirnfunktionsausfall" TargetMode="External" Id="R9d3301e7589549ce" /><Relationship Type="http://schemas.openxmlformats.org/officeDocument/2006/relationships/notesSlide" Target="/ppt/notesSlides/notesSlide7.xml" Id="R976da86b6e69416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f1172d35c064f4b" /><Relationship Type="http://schemas.openxmlformats.org/officeDocument/2006/relationships/hyperlink" Target="https://www.wbbaek.de/richtlinien-leitlinien/irreversibler-hirnfunktionsausfall" TargetMode="External" Id="Ra2b40cdbf9fd4ea0" /><Relationship Type="http://schemas.openxmlformats.org/officeDocument/2006/relationships/notesSlide" Target="/ppt/notesSlides/notesSlide8.xml" Id="R0445674387ab445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f09d57898124769" /><Relationship Type="http://schemas.openxmlformats.org/officeDocument/2006/relationships/hyperlink" Target="https://beck-online.beck.de/Bcid/Y-300-Z-NJW-B-1992-S-3245-N-1" TargetMode="External" Id="R1351e92449054729" /><Relationship Type="http://schemas.openxmlformats.org/officeDocument/2006/relationships/notesSlide" Target="/ppt/notesSlides/notesSlide9.xml" Id="Rff422792105c45f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ae24b070b224464" /><Relationship Type="http://schemas.openxmlformats.org/officeDocument/2006/relationships/hyperlink" Target="https://beck-online.beck.de/Bcid/Y-300-Z-NJW-B-1992-S-3245-N-1" TargetMode="External" Id="R9885c08efe7841f3" /><Relationship Type="http://schemas.openxmlformats.org/officeDocument/2006/relationships/notesSlide" Target="/ppt/notesSlides/notesSlide10.xml" Id="R5157e62250ad423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74f2387ccda464f" /><Relationship Type="http://schemas.openxmlformats.org/officeDocument/2006/relationships/hyperlink" Target="https://beck-online.beck.de/Bcid/Y-300-Z-NJW-B-1992-S-3245-N-1" TargetMode="External" Id="R272f4e6d92e140fc" /><Relationship Type="http://schemas.openxmlformats.org/officeDocument/2006/relationships/hyperlink" Target="https://doi.org/10.5771/0934-9200-1993-1-9" TargetMode="External" Id="R0fb9c13696454f33" /><Relationship Type="http://schemas.openxmlformats.org/officeDocument/2006/relationships/notesSlide" Target="/ppt/notesSlides/notesSlide11.xml" Id="R91883b5892414f9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e502793d9b74f80" /><Relationship Type="http://schemas.openxmlformats.org/officeDocument/2006/relationships/hyperlink" Target="https://beck-online.beck.de/Bcid/Y-300-Z-NJW-B-1992-S-3245-N-1" TargetMode="External" Id="R533f96c3ffe74a39" /><Relationship Type="http://schemas.openxmlformats.org/officeDocument/2006/relationships/hyperlink" Target="https://doi.org/10.5771/0934-9200-1993-1-9" TargetMode="External" Id="Rae30648863b5477a" /><Relationship Type="http://schemas.openxmlformats.org/officeDocument/2006/relationships/notesSlide" Target="/ppt/notesSlides/notesSlide12.xml" Id="R522264cd7a48490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3c27d910ada4b95" /><Relationship Type="http://schemas.openxmlformats.org/officeDocument/2006/relationships/hyperlink" Target="https://www.gesetze-im-internet.de/bgb/__1870.html" TargetMode="External" Id="Rd44b11e801e74acc" /><Relationship Type="http://schemas.openxmlformats.org/officeDocument/2006/relationships/hyperlink" Target="https://www.gesetze-im-internet.de/bgb/__1874.html" TargetMode="External" Id="R13f83dbc6dce452c" /><Relationship Type="http://schemas.openxmlformats.org/officeDocument/2006/relationships/notesSlide" Target="/ppt/notesSlides/notesSlide13.xml" Id="R885876ef5989485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312c36c76c04417" /><Relationship Type="http://schemas.openxmlformats.org/officeDocument/2006/relationships/hyperlink" Target="https://www.gesetze-im-internet.de/bgb/__1870.html" TargetMode="External" Id="Rcd11be1d2fcc4241" /><Relationship Type="http://schemas.openxmlformats.org/officeDocument/2006/relationships/hyperlink" Target="https://www.gesetze-im-internet.de/bgb/__1874.html" TargetMode="External" Id="R18d7a03971b64872" /><Relationship Type="http://schemas.openxmlformats.org/officeDocument/2006/relationships/notesSlide" Target="/ppt/notesSlides/notesSlide14.xml" Id="Re11109d9dfac465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36d8e9493be4651" /><Relationship Type="http://schemas.openxmlformats.org/officeDocument/2006/relationships/hyperlink" Target="https://podcasts.apple.com/us/podcast/recht-medizinisch/id1896818482" TargetMode="External" Id="R667a62f4d93c4485" /><Relationship Type="http://schemas.openxmlformats.org/officeDocument/2006/relationships/notesSlide" Target="/ppt/notesSlides/notesSlide15.xml" Id="R98eaf5f2bf7942f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4eab515b4dd46ff" /><Relationship Type="http://schemas.openxmlformats.org/officeDocument/2006/relationships/notesSlide" Target="/ppt/notesSlides/notesSlide16.xml" Id="R6433ff991e5b475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12FF33-398B-41EC-A1FF-229FA82A3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1112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87F8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87F86"/>
                </a:solidFill>
                <a:latin typeface="Arial"/>
                <a:ea typeface="Arial"/>
                <a:cs typeface="Arial"/>
              </a:rPr>
              <a:t>RECHT MEDIZINISCH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1CF71D-9482-4E87-859D-1FE473C2A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71D33"/>
                </a:solidFill>
                <a:latin typeface="Georgia"/>
                <a:ea typeface="Georgia"/>
                <a:cs typeface="Georgia"/>
              </a:defRPr>
            </a:pPr>
            <a:r>
              <a:rPr sz="2850" b="1">
                <a:solidFill>
                  <a:srgbClr val="071D33"/>
                </a:solidFill>
                <a:latin typeface="Georgia"/>
                <a:ea typeface="Georgia"/>
                <a:cs typeface="Georgia"/>
              </a:rPr>
              <a:t>Recht haben.</a:t>
            </a:r>
          </a:p>
          <a:p xmlns:a="http://schemas.openxmlformats.org/drawingml/2006/main">
            <a:pPr>
              <a:defRPr sz="2850" b="1">
                <a:solidFill>
                  <a:srgbClr val="071D33"/>
                </a:solidFill>
                <a:latin typeface="Georgia"/>
                <a:ea typeface="Georgia"/>
                <a:cs typeface="Georgia"/>
              </a:defRPr>
            </a:pPr>
            <a:r>
              <a:rPr sz="2850" b="1">
                <a:solidFill>
                  <a:srgbClr val="071D33"/>
                </a:solidFill>
                <a:latin typeface="Georgia"/>
                <a:ea typeface="Georgia"/>
                <a:cs typeface="Georgia"/>
              </a:rPr>
              <a:t>Recht bekommen.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7DD958-A3A9-494C-9129-30C77416E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05000"/>
            <a:ext cx="4619625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071D33"/>
                </a:solidFill>
                <a:latin typeface="Arial"/>
                <a:ea typeface="Arial"/>
                <a:cs typeface="Arial"/>
              </a:defRPr>
            </a:pPr>
            <a:r>
              <a:t>Medizinrecht verstehen, Verfahren beherrschen, Konflikte praktisch lösen</a:t>
            </a:r>
            <a:br/>
            <a:r>
              <a:t>Allgemeine Lern- und Präsentationsfassung · 15 fallbasierte Kurse · ohne juristische Vorkenntnisse</a:t>
            </a:r>
            <a:br/>
            <a:r>
              <a:t>Konzeption: Philipp Graef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d0034453274b4a"/>
          <a:stretch xmlns:a="http://schemas.openxmlformats.org/drawingml/2006/main"/>
        </p:blipFill>
        <p:spPr>
          <a:xfrm xmlns:a="http://schemas.openxmlformats.org/drawingml/2006/main">
            <a:off x="5619750" y="2377288"/>
            <a:ext cx="6000750" cy="3151174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D32AA6-35A9-4A81-AF0B-98E784DFF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0"/>
            <a:ext cx="1112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D7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D75"/>
                </a:solidFill>
                <a:latin typeface="Arial"/>
                <a:ea typeface="Arial"/>
                <a:cs typeface="Arial"/>
              </a:rPr>
              <a:t>Recht Medizinisch · Folie 1 · Seite 1/1</a:t>
            </a:r>
          </a:p>
        </p:txBody>
      </p:sp>
    </p:spTree>
    <p:extLst>
      <p:ext uri="{BB962C8B-B14F-4D97-AF65-F5344CB8AC3E}">
        <p14:creationId xmlns:p14="http://schemas.microsoft.com/office/powerpoint/2010/main" val="27034698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641DD7-5AA0-4029-9EBE-6A1A70FDC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1112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87F8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87F86"/>
                </a:solidFill>
                <a:latin typeface="Arial"/>
                <a:ea typeface="Arial"/>
                <a:cs typeface="Arial"/>
              </a:rPr>
              <a:t>IHRE LERNZIELE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A008F9-5363-4B3E-A5F9-4DBF56C10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71D33"/>
                </a:solidFill>
                <a:latin typeface="Georgia"/>
                <a:ea typeface="Georgia"/>
                <a:cs typeface="Georgia"/>
              </a:defRPr>
            </a:pPr>
            <a:r>
              <a:rPr sz="2850" b="1">
                <a:solidFill>
                  <a:srgbClr val="071D33"/>
                </a:solidFill>
                <a:latin typeface="Georgia"/>
                <a:ea typeface="Georgia"/>
                <a:cs typeface="Georgia"/>
              </a:rPr>
              <a:t>Medizinrecht verstehen und anwenden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7DA658-2F9F-4B78-8607-CE5B9CAA1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57325"/>
            <a:ext cx="11125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87F8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87F86"/>
                </a:solidFill>
                <a:latin typeface="Arial"/>
                <a:ea typeface="Arial"/>
                <a:cs typeface="Arial"/>
              </a:rPr>
              <a:t>☷ Kernpunkte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39AA3D-72B4-4698-A862-B9159ADAD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14525"/>
            <a:ext cx="11125200" cy="297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071D33"/>
                </a:solidFill>
                <a:latin typeface="Arial"/>
                <a:ea typeface="Arial"/>
                <a:cs typeface="Arial"/>
              </a:defRPr>
            </a:pPr>
            <a:r>
              <a:t>• einen medizinrechtlichen Konflikt der richtigen Verfahrensspur zuordnen.</a:t>
            </a:r>
            <a:br/>
            <a:r>
              <a:t>• Arzthaftung nach §§ 280, 823 und 630a–630h BGB vollständig prüfen.</a:t>
            </a:r>
            <a:br/>
            <a:r>
              <a:t>• Zivilprozessrecht, Strafprozessrecht und Verwaltungsprozessrecht Schritt für Schritt erklären.</a:t>
            </a:r>
            <a:br/>
            <a:r>
              <a:t>• </a:t>
            </a:r>
            <a:r>
              <a:rPr b="1"/>
              <a:t>Beweislast</a:t>
            </a:r>
            <a:r>
              <a:t>, Beweismaß und Sachverständigenbeweis praktisch anwenden.</a:t>
            </a:r>
            <a:br/>
            <a:r>
              <a:t>• Berufsrecht, Approbationsrecht und Arbeitsrecht als eigenständige Verfahren behandeln.</a:t>
            </a:r>
            <a:br/>
            <a:r>
              <a:t>• nach einem Zwischenfall patientensicher, wahr, zeitnah und rollenbewusst handeln.</a:t>
            </a:r>
            <a:br/>
            <a:r>
              <a:t>• die Podcastfälle von Aufklärung und Patientenwillen bis KI, ePA und Systemdruck lösen.</a:t>
            </a:r>
            <a:br/>
            <a:r>
              <a:t>• defensive Medizin erkennen und patientenzentrierte Entscheidungen rechtlich begründen.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41BF5D-8723-4B94-90A1-2D39A0E70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53125"/>
            <a:ext cx="11125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26D75"/>
                </a:solidFill>
                <a:latin typeface="Arial"/>
                <a:ea typeface="Arial"/>
                <a:cs typeface="Arial"/>
              </a:defRPr>
            </a:pPr>
            <a:r>
              <a:t>Quelle: Kurskonzeption des Lernkurses · Recht Medizinisch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F22F54-9EC4-44F9-A3AB-D4F441BA7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0"/>
            <a:ext cx="1112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D7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D75"/>
                </a:solidFill>
                <a:latin typeface="Arial"/>
                <a:ea typeface="Arial"/>
                <a:cs typeface="Arial"/>
              </a:rPr>
              <a:t>Recht Medizinisch · Folie 2 · Seite 1/1</a:t>
            </a:r>
          </a:p>
        </p:txBody>
      </p:sp>
    </p:spTree>
    <p:extLst>
      <p:ext uri="{BB962C8B-B14F-4D97-AF65-F5344CB8AC3E}">
        <p14:creationId xmlns:p14="http://schemas.microsoft.com/office/powerpoint/2010/main" val="150764770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D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50DF18-727D-471D-A88B-AF23C9EF2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1112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59D7D1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9D7D1"/>
                </a:solidFill>
                <a:latin typeface="Arial"/>
                <a:ea typeface="Arial"/>
                <a:cs typeface="Arial"/>
              </a:rPr>
              <a:t>LERNEN IN DER APP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6607C7-DE8E-4962-A028-687934265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85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Vom Wissen zum Handeln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DF6986-835E-4C45-949D-9813E6B2F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381125"/>
            <a:ext cx="5486400" cy="1685925"/>
          </a:xfrm>
          <a:prstGeom xmlns:a="http://schemas.openxmlformats.org/drawingml/2006/main" prst="roundRect">
            <a:avLst>
              <a:gd name="adj" fmla="val 4520"/>
            </a:avLst>
          </a:prstGeom>
          <a:solidFill xmlns:a="http://schemas.openxmlformats.org/drawingml/2006/main">
            <a:srgbClr val="EDF5F1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59B94D-3A15-4720-BEC7-C4FAE8863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57325"/>
            <a:ext cx="5410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87F8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87F86"/>
                </a:solidFill>
                <a:latin typeface="Arial"/>
                <a:ea typeface="Arial"/>
                <a:cs typeface="Arial"/>
              </a:rPr>
              <a:t>❝ Kernaussage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0B887B-A69A-420E-8A4B-DE0106FD8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95475"/>
            <a:ext cx="5410200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71D33"/>
                </a:solidFill>
                <a:latin typeface="Arial"/>
                <a:ea typeface="Arial"/>
                <a:cs typeface="Arial"/>
              </a:defRPr>
            </a:pPr>
            <a:r>
              <a:t>Die Präsentation erklärt. Die Lernapp lässt anwenden.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7A505C-A670-4C60-B982-D0C18590A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381125"/>
            <a:ext cx="5486400" cy="1685925"/>
          </a:xfrm>
          <a:prstGeom xmlns:a="http://schemas.openxmlformats.org/drawingml/2006/main" prst="roundRect">
            <a:avLst>
              <a:gd name="adj" fmla="val 4520"/>
            </a:avLst>
          </a:prstGeom>
          <a:solidFill xmlns:a="http://schemas.openxmlformats.org/drawingml/2006/main">
            <a:srgbClr val="EEEDF9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789BF2-6FA5-4A1A-B06C-AA161F838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5410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87F8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87F86"/>
                </a:solidFill>
                <a:latin typeface="Arial"/>
                <a:ea typeface="Arial"/>
                <a:cs typeface="Arial"/>
              </a:rPr>
              <a:t>🧭 Einordnung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A3F8C9-71BD-4623-AB62-1AD08FAF1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895475"/>
            <a:ext cx="5410200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71D33"/>
                </a:solidFill>
                <a:latin typeface="Arial"/>
                <a:ea typeface="Arial"/>
                <a:cs typeface="Arial"/>
              </a:defRPr>
            </a:pPr>
            <a:r>
              <a:t>Jeder Kurs öffnet unmittelbar seine Normgrundlagen, einen Fall, eine Originalentscheidung, einen Wissenscheck und einen Praxistransfer. Fortschritt entsteht nicht durch bloßes Weiterklicken.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188195-94FB-49A2-9139-C89EC08B7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162300"/>
            <a:ext cx="5486400" cy="1685925"/>
          </a:xfrm>
          <a:prstGeom xmlns:a="http://schemas.openxmlformats.org/drawingml/2006/main" prst="roundRect">
            <a:avLst>
              <a:gd name="adj" fmla="val 4520"/>
            </a:avLst>
          </a:prstGeom>
          <a:solidFill xmlns:a="http://schemas.openxmlformats.org/drawingml/2006/main">
            <a:srgbClr val="F7EDC8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9C6447-4919-46FE-AC33-8CF693C5A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0"/>
            <a:ext cx="5410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87F8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87F86"/>
                </a:solidFill>
                <a:latin typeface="Arial"/>
                <a:ea typeface="Arial"/>
                <a:cs typeface="Arial"/>
              </a:rPr>
              <a:t>💡 Merksatz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FA4860-7137-4BC6-8FD2-4D3787390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76650"/>
            <a:ext cx="5410200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71D33"/>
                </a:solidFill>
                <a:latin typeface="Arial"/>
                <a:ea typeface="Arial"/>
                <a:cs typeface="Arial"/>
              </a:defRPr>
            </a:pPr>
            <a:r>
              <a:t>15 Kurse · Lernfortschritt nach erledigten Pflichtschritten · exportierbarer digitaler Lernnachweis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6025EA-4A76-4F4E-9DAB-9343DE017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162300"/>
            <a:ext cx="5486400" cy="1685925"/>
          </a:xfrm>
          <a:prstGeom xmlns:a="http://schemas.openxmlformats.org/drawingml/2006/main" prst="roundRect">
            <a:avLst>
              <a:gd name="adj" fmla="val 4520"/>
            </a:avLst>
          </a:prstGeom>
          <a:solidFill xmlns:a="http://schemas.openxmlformats.org/drawingml/2006/main">
            <a:srgbClr val="EDF5F1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A90D3C-67D8-419A-9035-77D72B63F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238500"/>
            <a:ext cx="5410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87F8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87F86"/>
                </a:solidFill>
                <a:latin typeface="Arial"/>
                <a:ea typeface="Arial"/>
                <a:cs typeface="Arial"/>
              </a:rPr>
              <a:t>Ihr Lernweg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EDAEF3-34DF-46F0-8813-75D32A162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676650"/>
            <a:ext cx="5410200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71D33"/>
                </a:solidFill>
                <a:latin typeface="Arial"/>
                <a:ea typeface="Arial"/>
                <a:cs typeface="Arial"/>
              </a:defRPr>
            </a:pPr>
            <a:r>
              <a:t>Die App speichert Ihren Lernfortschritt lokal. Halten Sie Ihre erste Entscheidung im Erlanger-Baby-Fall selbst fest und vergleichen Sie sie nach der rechtlichen Analyse mit Ihrer späteren Einschätzung.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3C2746-AF9D-473F-B2F0-27F0497BA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53125"/>
            <a:ext cx="11125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7D8D5"/>
                </a:solidFill>
                <a:latin typeface="Arial"/>
                <a:ea typeface="Arial"/>
                <a:cs typeface="Arial"/>
              </a:defRPr>
            </a:pPr>
            <a:r>
              <a:t>Quelle: Recht Medizinisch · allgemeine Lernfassung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0BF626-D9E6-4342-A23C-D4A26CF36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0"/>
            <a:ext cx="1112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B7D8D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B7D8D5"/>
                </a:solidFill>
                <a:latin typeface="Arial"/>
                <a:ea typeface="Arial"/>
                <a:cs typeface="Arial"/>
              </a:rPr>
              <a:t>Recht Medizinisch · Folie 3 · Seite 1/1</a:t>
            </a:r>
          </a:p>
        </p:txBody>
      </p:sp>
    </p:spTree>
    <p:extLst>
      <p:ext uri="{BB962C8B-B14F-4D97-AF65-F5344CB8AC3E}">
        <p14:creationId xmlns:p14="http://schemas.microsoft.com/office/powerpoint/2010/main" val="107818779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DF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B7EA7A2-CC13-492D-9EFC-5F1996183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1112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87F8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87F86"/>
                </a:solidFill>
                <a:latin typeface="Arial"/>
                <a:ea typeface="Arial"/>
                <a:cs typeface="Arial"/>
              </a:rPr>
              <a:t>ERLANGER BABY · 1992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72B280-BADC-43BB-B85A-DF28A00CE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71D33"/>
                </a:solidFill>
                <a:latin typeface="Georgia"/>
                <a:ea typeface="Georgia"/>
                <a:cs typeface="Georgia"/>
              </a:defRPr>
            </a:pPr>
            <a:r>
              <a:rPr sz="2850" b="1">
                <a:solidFill>
                  <a:srgbClr val="071D33"/>
                </a:solidFill>
                <a:latin typeface="Georgia"/>
                <a:ea typeface="Georgia"/>
                <a:cs typeface="Georgia"/>
              </a:rPr>
              <a:t>Wie würden Sie entscheiden?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FF7AF1-25B9-4551-B4A3-A3810322B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381125"/>
            <a:ext cx="3581400" cy="1933575"/>
          </a:xfrm>
          <a:prstGeom xmlns:a="http://schemas.openxmlformats.org/drawingml/2006/main" prst="roundRect">
            <a:avLst>
              <a:gd name="adj" fmla="val 3941"/>
            </a:avLst>
          </a:prstGeom>
          <a:solidFill xmlns:a="http://schemas.openxmlformats.org/drawingml/2006/main">
            <a:srgbClr val="EEEDF9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308A44-8FC5-4067-892B-8EB886C03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57325"/>
            <a:ext cx="3505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87F8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87F86"/>
                </a:solidFill>
                <a:latin typeface="Arial"/>
                <a:ea typeface="Arial"/>
                <a:cs typeface="Arial"/>
              </a:rPr>
              <a:t>? Leitfrage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9ACA0D-C47C-4C0C-BD79-7EECB823C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95475"/>
            <a:ext cx="3505200" cy="1457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71D33"/>
                </a:solidFill>
                <a:latin typeface="Arial"/>
                <a:ea typeface="Arial"/>
                <a:cs typeface="Arial"/>
              </a:defRPr>
            </a:pPr>
            <a:r>
              <a:t>Darf ein Krankenhaus die Körperfunktionen einer hirntoten Schwangeren aufrechterhalten, um dem ungeborenen Kind eine Überlebenschance zu geben?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5A985A-A832-4959-ACCC-60ADAA188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381125"/>
            <a:ext cx="3581400" cy="1933575"/>
          </a:xfrm>
          <a:prstGeom xmlns:a="http://schemas.openxmlformats.org/drawingml/2006/main" prst="roundRect">
            <a:avLst>
              <a:gd name="adj" fmla="val 3941"/>
            </a:avLst>
          </a:prstGeom>
          <a:solidFill xmlns:a="http://schemas.openxmlformats.org/drawingml/2006/main">
            <a:srgbClr val="EDF5F1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E952A7-6F8D-4C0A-8F30-DA319E13C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457325"/>
            <a:ext cx="3505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87F8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87F86"/>
                </a:solidFill>
                <a:latin typeface="Arial"/>
                <a:ea typeface="Arial"/>
                <a:cs typeface="Arial"/>
              </a:rPr>
              <a:t>18 Jahre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6F80FA-AF07-4629-9647-66224D5AF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895475"/>
            <a:ext cx="3505200" cy="1457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71D33"/>
                </a:solidFill>
                <a:latin typeface="Arial"/>
                <a:ea typeface="Arial"/>
                <a:cs typeface="Arial"/>
              </a:defRPr>
            </a:pPr>
            <a:r>
              <a:t>schwangere Patientin nach schwerem Verkehrsunfall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ADF146-D443-4091-953D-DC3C4165E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381125"/>
            <a:ext cx="3581400" cy="1933575"/>
          </a:xfrm>
          <a:prstGeom xmlns:a="http://schemas.openxmlformats.org/drawingml/2006/main" prst="roundRect">
            <a:avLst>
              <a:gd name="adj" fmla="val 3941"/>
            </a:avLst>
          </a:prstGeom>
          <a:solidFill xmlns:a="http://schemas.openxmlformats.org/drawingml/2006/main">
            <a:srgbClr val="EDF5F1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1672A7-A20B-4B8C-9F79-779EB36E1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457325"/>
            <a:ext cx="3505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87F8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87F86"/>
                </a:solidFill>
                <a:latin typeface="Arial"/>
                <a:ea typeface="Arial"/>
                <a:cs typeface="Arial"/>
              </a:rPr>
              <a:t>15. SSW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037210-FAF8-4177-A5DC-FC8AAAA7D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895475"/>
            <a:ext cx="3505200" cy="1457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71D33"/>
                </a:solidFill>
                <a:latin typeface="Arial"/>
                <a:ea typeface="Arial"/>
                <a:cs typeface="Arial"/>
              </a:defRPr>
            </a:pPr>
            <a:r>
              <a:t>Schwangerschaft erst im Rahmen der Versorgung erkannt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03115F-D870-4CF9-8FB8-AA194C726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409950"/>
            <a:ext cx="3581400" cy="1438275"/>
          </a:xfrm>
          <a:prstGeom xmlns:a="http://schemas.openxmlformats.org/drawingml/2006/main" prst="roundRect">
            <a:avLst>
              <a:gd name="adj" fmla="val 5298"/>
            </a:avLst>
          </a:prstGeom>
          <a:solidFill xmlns:a="http://schemas.openxmlformats.org/drawingml/2006/main">
            <a:srgbClr val="EDF5F1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FEB9D8-7713-4C17-BFE9-E421A7459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86150"/>
            <a:ext cx="3505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87F8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87F86"/>
                </a:solidFill>
                <a:latin typeface="Arial"/>
                <a:ea typeface="Arial"/>
                <a:cs typeface="Arial"/>
              </a:rPr>
              <a:t>Hirntod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89597D-5507-45AF-A8CE-2EDBEFABD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24300"/>
            <a:ext cx="35052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71D33"/>
                </a:solidFill>
                <a:latin typeface="Arial"/>
                <a:ea typeface="Arial"/>
                <a:cs typeface="Arial"/>
              </a:defRPr>
            </a:pPr>
            <a:r>
              <a:t>irreversibler Ausfall der gesamten Hirnfunktionen festgestellt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DA65BE-569D-4EDB-A70E-07A9E6FCB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409950"/>
            <a:ext cx="3581400" cy="1438275"/>
          </a:xfrm>
          <a:prstGeom xmlns:a="http://schemas.openxmlformats.org/drawingml/2006/main" prst="roundRect">
            <a:avLst>
              <a:gd name="adj" fmla="val 5298"/>
            </a:avLst>
          </a:prstGeom>
          <a:solidFill xmlns:a="http://schemas.openxmlformats.org/drawingml/2006/main">
            <a:srgbClr val="EDF5F1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B56C95-BC32-441C-BA97-5371C483A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486150"/>
            <a:ext cx="3505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87F8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87F86"/>
                </a:solidFill>
                <a:latin typeface="Arial"/>
                <a:ea typeface="Arial"/>
                <a:cs typeface="Arial"/>
              </a:rPr>
              <a:t>Zeitdruck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A427B1-8015-4263-B6C2-9DEE79B23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24300"/>
            <a:ext cx="35052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71D33"/>
                </a:solidFill>
                <a:latin typeface="Arial"/>
                <a:ea typeface="Arial"/>
                <a:cs typeface="Arial"/>
              </a:defRPr>
            </a:pPr>
            <a:r>
              <a:t>medizinische, ethische und rechtliche Entscheidung ohne sicheren Ausgang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19C23E-C217-47F1-9CB5-7A39A236D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409950"/>
            <a:ext cx="3581400" cy="1438275"/>
          </a:xfrm>
          <a:prstGeom xmlns:a="http://schemas.openxmlformats.org/drawingml/2006/main" prst="roundRect">
            <a:avLst>
              <a:gd name="adj" fmla="val 5298"/>
            </a:avLst>
          </a:prstGeom>
          <a:solidFill xmlns:a="http://schemas.openxmlformats.org/drawingml/2006/main">
            <a:srgbClr val="EDF5F1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5FE357-E275-43F9-89BE-B010F8C1B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486150"/>
            <a:ext cx="3505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87F8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87F86"/>
                </a:solidFill>
                <a:latin typeface="Arial"/>
                <a:ea typeface="Arial"/>
                <a:cs typeface="Arial"/>
              </a:rPr>
              <a:t>☑ Arbeitsauftrag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5963AF-0F1C-4795-B43A-342C71941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924300"/>
            <a:ext cx="35052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71D33"/>
                </a:solidFill>
                <a:latin typeface="Arial"/>
                <a:ea typeface="Arial"/>
                <a:cs typeface="Arial"/>
              </a:defRPr>
            </a:pPr>
            <a:r>
              <a:t>Noch keine Paragrafen: Entscheiden Sie zunächst klinisch und moralisch.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838616F-2932-465A-9354-7C24150E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53125"/>
            <a:ext cx="11125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26D75"/>
                </a:solidFill>
                <a:latin typeface="Arial"/>
                <a:ea typeface="Arial"/>
                <a:cs typeface="Arial"/>
              </a:defRPr>
            </a:pPr>
            <a:r>
              <a:t>Quelle: AG Hersbruck, Beschl. v. 16.10.1992 – XVII 1556/92, NJW 1992, 3245 · DER SPIEGEL, Video v. 29.10.2012 · </a:t>
            </a:r>
            <a:r>
              <a:rPr>
                <a:hlinkClick xmlns:r="http://schemas.openxmlformats.org/officeDocument/2006/relationships" r:id="R0b052ac0e3954a2b"/>
              </a:rPr>
              <a:t>Quelle öffnen (beck-online.beck.de)</a:t>
            </a:r>
            <a:r>
              <a:t/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593258-EF05-4D89-994F-BEA8587D6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0"/>
            <a:ext cx="1112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D7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D75"/>
                </a:solidFill>
                <a:latin typeface="Arial"/>
                <a:ea typeface="Arial"/>
                <a:cs typeface="Arial"/>
              </a:rPr>
              <a:t>Recht Medizinisch · Folie 4 · Seite 1/1</a:t>
            </a:r>
          </a:p>
        </p:txBody>
      </p:sp>
    </p:spTree>
    <p:extLst>
      <p:ext uri="{BB962C8B-B14F-4D97-AF65-F5344CB8AC3E}">
        <p14:creationId xmlns:p14="http://schemas.microsoft.com/office/powerpoint/2010/main" val="12076063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89BC6B-D248-4137-A1C3-877A27227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1112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87F8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87F86"/>
                </a:solidFill>
                <a:latin typeface="Arial"/>
                <a:ea typeface="Arial"/>
                <a:cs typeface="Arial"/>
              </a:rPr>
              <a:t>IHRE POSITION · 60 SEKUNDEN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D8AAD1-4DE4-4478-8641-98069ED58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71D33"/>
                </a:solidFill>
                <a:latin typeface="Georgia"/>
                <a:ea typeface="Georgia"/>
                <a:cs typeface="Georgia"/>
              </a:defRPr>
            </a:pPr>
            <a:r>
              <a:rPr sz="2850" b="1">
                <a:solidFill>
                  <a:srgbClr val="071D33"/>
                </a:solidFill>
                <a:latin typeface="Georgia"/>
                <a:ea typeface="Georgia"/>
                <a:cs typeface="Georgia"/>
              </a:rPr>
              <a:t>Fortführen, beenden oder vertagen?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FA941F-13F8-46AF-8B01-8A672D8D4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381125"/>
            <a:ext cx="5486400" cy="1438275"/>
          </a:xfrm>
          <a:prstGeom xmlns:a="http://schemas.openxmlformats.org/drawingml/2006/main" prst="roundRect">
            <a:avLst>
              <a:gd name="adj" fmla="val 5298"/>
            </a:avLst>
          </a:prstGeom>
          <a:solidFill xmlns:a="http://schemas.openxmlformats.org/drawingml/2006/main">
            <a:srgbClr val="EDF5F1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18E02C-8BF9-4EC6-977E-DB4D93296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57325"/>
            <a:ext cx="5410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87F8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87F86"/>
                </a:solidFill>
                <a:latin typeface="Arial"/>
                <a:ea typeface="Arial"/>
                <a:cs typeface="Arial"/>
              </a:rPr>
              <a:t>A · Beenden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41BC6F-26B8-4B85-9669-C63622759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95475"/>
            <a:ext cx="54102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71D33"/>
                </a:solidFill>
                <a:latin typeface="Arial"/>
                <a:ea typeface="Arial"/>
                <a:cs typeface="Arial"/>
              </a:defRPr>
            </a:pPr>
            <a:r>
              <a:t>Die Verstorbene darf nicht zum bloßen Mittel gemacht werden; ihre Würde und ihr </a:t>
            </a:r>
            <a:r>
              <a:rPr b="1"/>
              <a:t>mutmaßlicher Wille</a:t>
            </a:r>
            <a:r>
              <a:t> sprechen gegen die Fortführung.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822802-0AE7-4CE3-AC3E-8E3746E75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381125"/>
            <a:ext cx="5486400" cy="1438275"/>
          </a:xfrm>
          <a:prstGeom xmlns:a="http://schemas.openxmlformats.org/drawingml/2006/main" prst="roundRect">
            <a:avLst>
              <a:gd name="adj" fmla="val 5298"/>
            </a:avLst>
          </a:prstGeom>
          <a:solidFill xmlns:a="http://schemas.openxmlformats.org/drawingml/2006/main">
            <a:srgbClr val="EDF5F1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54FB4A-429F-43C7-B35D-6290356B5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5410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87F8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87F86"/>
                </a:solidFill>
                <a:latin typeface="Arial"/>
                <a:ea typeface="Arial"/>
                <a:cs typeface="Arial"/>
              </a:rPr>
              <a:t>B · Fortführen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FE05B8-EE7F-4DF1-B96C-56A70D424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895475"/>
            <a:ext cx="54102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71D33"/>
                </a:solidFill>
                <a:latin typeface="Arial"/>
                <a:ea typeface="Arial"/>
                <a:cs typeface="Arial"/>
              </a:defRPr>
            </a:pPr>
            <a:r>
              <a:t>Das ungeborene Leben erhält eine Chance; die intensivmedizinische Unterstützung wird zeitlich befristet fortgesetzt.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695FAF-E434-487F-9D62-E6518B4B2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914650"/>
            <a:ext cx="5486400" cy="1685925"/>
          </a:xfrm>
          <a:prstGeom xmlns:a="http://schemas.openxmlformats.org/drawingml/2006/main" prst="roundRect">
            <a:avLst>
              <a:gd name="adj" fmla="val 4520"/>
            </a:avLst>
          </a:prstGeom>
          <a:solidFill xmlns:a="http://schemas.openxmlformats.org/drawingml/2006/main">
            <a:srgbClr val="EDF5F1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566171-3906-4931-A5C5-AF6C82E8A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90850"/>
            <a:ext cx="5410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87F8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87F86"/>
                </a:solidFill>
                <a:latin typeface="Arial"/>
                <a:ea typeface="Arial"/>
                <a:cs typeface="Arial"/>
              </a:rPr>
              <a:t>C · Vertagen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74B7E8-47A2-4E20-A015-09873B808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0"/>
            <a:ext cx="5410200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71D33"/>
                </a:solidFill>
                <a:latin typeface="Arial"/>
                <a:ea typeface="Arial"/>
                <a:cs typeface="Arial"/>
              </a:defRPr>
            </a:pPr>
            <a:r>
              <a:t>24 Stunden für Prognose, Willensermittlung, Familie, Ethik und gerichtliche Zuständigkeitsklärung.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B65FBB-A147-4727-8B11-F4132DCB7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914650"/>
            <a:ext cx="5486400" cy="1685925"/>
          </a:xfrm>
          <a:prstGeom xmlns:a="http://schemas.openxmlformats.org/drawingml/2006/main" prst="roundRect">
            <a:avLst>
              <a:gd name="adj" fmla="val 4520"/>
            </a:avLst>
          </a:prstGeom>
          <a:solidFill xmlns:a="http://schemas.openxmlformats.org/drawingml/2006/main">
            <a:srgbClr val="EDF5F1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2FD9A0-B4E5-4BFD-BDF5-78C9CE13D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990850"/>
            <a:ext cx="5410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87F8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87F86"/>
                </a:solidFill>
                <a:latin typeface="Arial"/>
                <a:ea typeface="Arial"/>
                <a:cs typeface="Arial"/>
              </a:rPr>
              <a:t>☑ Arbeitsauftrag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848773-7F5D-4465-91E1-F4784464C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429000"/>
            <a:ext cx="5410200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71D33"/>
                </a:solidFill>
                <a:latin typeface="Arial"/>
                <a:ea typeface="Arial"/>
                <a:cs typeface="Arial"/>
              </a:defRPr>
            </a:pPr>
            <a:r>
              <a:t>Wählen Sie für sich A, B oder C. Formulieren Sie einen tragenden Grund und eine noch offene Tatsachenfrage. Vergleichen Sie Ihre erste Einschätzung nach der Fallanalyse erneut.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7BCA16-AA0A-47F2-A66A-B9FD5F542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53125"/>
            <a:ext cx="11125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26D75"/>
                </a:solidFill>
                <a:latin typeface="Arial"/>
                <a:ea typeface="Arial"/>
                <a:cs typeface="Arial"/>
              </a:defRPr>
            </a:pPr>
            <a:r>
              <a:t>Quelle: Podcast Recht Medizinisch, Kurzvisite „Der Erlanger Baby-Fall“, 22.06.2026 · </a:t>
            </a:r>
            <a:r>
              <a:rPr>
                <a:hlinkClick xmlns:r="http://schemas.openxmlformats.org/officeDocument/2006/relationships" r:id="R634daece5a70407f"/>
              </a:rPr>
              <a:t>Quelle öffnen (podcasts.apple.com)</a:t>
            </a:r>
            <a:r>
              <a:t/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AD2250-1704-4A3D-AA0B-E350E9D5E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0"/>
            <a:ext cx="1112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D7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D75"/>
                </a:solidFill>
                <a:latin typeface="Arial"/>
                <a:ea typeface="Arial"/>
                <a:cs typeface="Arial"/>
              </a:rPr>
              <a:t>Recht Medizinisch · Folie 5 · Seite 1/1</a:t>
            </a:r>
          </a:p>
        </p:txBody>
      </p:sp>
    </p:spTree>
    <p:extLst>
      <p:ext uri="{BB962C8B-B14F-4D97-AF65-F5344CB8AC3E}">
        <p14:creationId xmlns:p14="http://schemas.microsoft.com/office/powerpoint/2010/main" val="888180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C0486E-2168-4A28-BD82-38EFA916C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1112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87F8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87F86"/>
                </a:solidFill>
                <a:latin typeface="Arial"/>
                <a:ea typeface="Arial"/>
                <a:cs typeface="Arial"/>
              </a:rPr>
              <a:t>INTERESSEN UND VERANTWORTUNG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16CE7E-A74A-480C-AE88-CB0A01919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71D33"/>
                </a:solidFill>
                <a:latin typeface="Georgia"/>
                <a:ea typeface="Georgia"/>
                <a:cs typeface="Georgia"/>
              </a:defRPr>
            </a:pPr>
            <a:r>
              <a:rPr sz="2850" b="1">
                <a:solidFill>
                  <a:srgbClr val="071D33"/>
                </a:solidFill>
                <a:latin typeface="Georgia"/>
                <a:ea typeface="Georgia"/>
                <a:cs typeface="Georgia"/>
              </a:rPr>
              <a:t>Wer steht im Konflikt?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CEDFC4-BE88-4B31-A065-A2196DCB7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381125"/>
            <a:ext cx="5486400" cy="1438275"/>
          </a:xfrm>
          <a:prstGeom xmlns:a="http://schemas.openxmlformats.org/drawingml/2006/main" prst="roundRect">
            <a:avLst>
              <a:gd name="adj" fmla="val 5298"/>
            </a:avLst>
          </a:prstGeom>
          <a:solidFill xmlns:a="http://schemas.openxmlformats.org/drawingml/2006/main">
            <a:srgbClr val="EDF5F1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6FC7EB-E538-4827-B582-A282BDB84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57325"/>
            <a:ext cx="5410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87F8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87F86"/>
                </a:solidFill>
                <a:latin typeface="Arial"/>
                <a:ea typeface="Arial"/>
                <a:cs typeface="Arial"/>
              </a:rPr>
              <a:t>Interessen im Konflikt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7DD585-2D76-4D0E-BD48-2AAA77EE3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95475"/>
            <a:ext cx="54102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71D33"/>
                </a:solidFill>
                <a:latin typeface="Arial"/>
                <a:ea typeface="Arial"/>
                <a:cs typeface="Arial"/>
              </a:defRPr>
            </a:pPr>
            <a:r>
              <a:t>Welche Interessen tragen welche Entscheidung?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CC5B98-21DB-4627-B79F-42C89C96C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381125"/>
            <a:ext cx="5486400" cy="1438275"/>
          </a:xfrm>
          <a:prstGeom xmlns:a="http://schemas.openxmlformats.org/drawingml/2006/main" prst="roundRect">
            <a:avLst>
              <a:gd name="adj" fmla="val 5298"/>
            </a:avLst>
          </a:prstGeom>
          <a:solidFill xmlns:a="http://schemas.openxmlformats.org/drawingml/2006/main">
            <a:srgbClr val="EDF5F1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3A5DF4-2600-4F21-AA7D-B4466DF6E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5410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87F8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87F86"/>
                </a:solidFill>
                <a:latin typeface="Arial"/>
                <a:ea typeface="Arial"/>
                <a:cs typeface="Arial"/>
              </a:rPr>
              <a:t>Verstorbene Frau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C80F8C-CADC-47DE-AB24-F5FF7421E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895475"/>
            <a:ext cx="54102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71D33"/>
                </a:solidFill>
                <a:latin typeface="Arial"/>
                <a:ea typeface="Arial"/>
                <a:cs typeface="Arial"/>
              </a:defRPr>
            </a:pPr>
            <a:r>
              <a:t>frühere Wünsche, Menschenwürde und postmortaler Persönlichkeitsschutz; nach Hirntod keine laufende Patienteneinwilligung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2098C3-EF11-48BE-8915-498E77486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914650"/>
            <a:ext cx="5486400" cy="1438275"/>
          </a:xfrm>
          <a:prstGeom xmlns:a="http://schemas.openxmlformats.org/drawingml/2006/main" prst="roundRect">
            <a:avLst>
              <a:gd name="adj" fmla="val 5298"/>
            </a:avLst>
          </a:prstGeom>
          <a:solidFill xmlns:a="http://schemas.openxmlformats.org/drawingml/2006/main">
            <a:srgbClr val="EDF5F1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D43380-CCEB-4AF3-AD70-20279F0D5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90850"/>
            <a:ext cx="5410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87F8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87F86"/>
                </a:solidFill>
                <a:latin typeface="Arial"/>
                <a:ea typeface="Arial"/>
                <a:cs typeface="Arial"/>
              </a:rPr>
              <a:t>Ungeborenes Leben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053F71-D3D5-4223-BA93-73CFFC527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0"/>
            <a:ext cx="54102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71D33"/>
                </a:solidFill>
                <a:latin typeface="Arial"/>
                <a:ea typeface="Arial"/>
                <a:cs typeface="Arial"/>
              </a:defRPr>
            </a:pPr>
            <a:r>
              <a:t>staatliche Schutzpflicht aus Art. 1 Abs. 1 i. V. m. Art. 2 Abs. 2 Satz 1 GG; konkrete Prognose und </a:t>
            </a:r>
            <a:r>
              <a:rPr b="1"/>
              <a:t>Verhältnismäßigkeit</a:t>
            </a:r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7C2B5A-1486-4991-ADE8-96F1623F9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914650"/>
            <a:ext cx="5486400" cy="1438275"/>
          </a:xfrm>
          <a:prstGeom xmlns:a="http://schemas.openxmlformats.org/drawingml/2006/main" prst="roundRect">
            <a:avLst>
              <a:gd name="adj" fmla="val 5298"/>
            </a:avLst>
          </a:prstGeom>
          <a:solidFill xmlns:a="http://schemas.openxmlformats.org/drawingml/2006/main">
            <a:srgbClr val="EDF5F1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EAD406-D558-409C-8127-69DC69D11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990850"/>
            <a:ext cx="5410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87F8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87F86"/>
                </a:solidFill>
                <a:latin typeface="Arial"/>
                <a:ea typeface="Arial"/>
                <a:cs typeface="Arial"/>
              </a:rPr>
              <a:t>Familie und Totenfürsorge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14F313-71F1-4D79-A45E-D84750B89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429000"/>
            <a:ext cx="54102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71D33"/>
                </a:solidFill>
                <a:latin typeface="Arial"/>
                <a:ea typeface="Arial"/>
                <a:cs typeface="Arial"/>
              </a:defRPr>
            </a:pPr>
            <a:r>
              <a:t>wichtige Informationen und eigene Belastung; Angehörige entscheiden nicht automatisch über jede medizinische Maßnahme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DBE936-F435-43C8-BE88-B6DD0171D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48175"/>
            <a:ext cx="11201400" cy="942975"/>
          </a:xfrm>
          <a:prstGeom xmlns:a="http://schemas.openxmlformats.org/drawingml/2006/main" prst="roundRect">
            <a:avLst>
              <a:gd name="adj" fmla="val 8081"/>
            </a:avLst>
          </a:prstGeom>
          <a:solidFill xmlns:a="http://schemas.openxmlformats.org/drawingml/2006/main">
            <a:srgbClr val="EDF5F1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7A7E9D-6589-48DA-8B02-594B22B14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24375"/>
            <a:ext cx="11125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87F8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87F86"/>
                </a:solidFill>
                <a:latin typeface="Arial"/>
                <a:ea typeface="Arial"/>
                <a:cs typeface="Arial"/>
              </a:rPr>
              <a:t>Behandlungsteam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22BEC8-C615-497A-A6FE-698D66976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62525"/>
            <a:ext cx="111252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71D33"/>
                </a:solidFill>
                <a:latin typeface="Arial"/>
                <a:ea typeface="Arial"/>
                <a:cs typeface="Arial"/>
              </a:defRPr>
            </a:pPr>
            <a:r>
              <a:t>Todesfeststellung, medizinische Indikation, Prognose, Ressourcen, interprofessionelle Beratung und Dokumentation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56F0C2-9A94-4E3A-A654-60AF0A4D9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53125"/>
            <a:ext cx="11125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26D75"/>
                </a:solidFill>
                <a:latin typeface="Arial"/>
                <a:ea typeface="Arial"/>
                <a:cs typeface="Arial"/>
              </a:defRPr>
            </a:pPr>
            <a:r>
              <a:t>Quelle: AG Hersbruck, Beschl. v. 16.10.1992 – XVII 1556/92, NJW 1992, 3245 · BVerfG, Urt. v. 28.05.1993 – 2 BvF 2/90 · </a:t>
            </a:r>
            <a:r>
              <a:rPr>
                <a:hlinkClick xmlns:r="http://schemas.openxmlformats.org/officeDocument/2006/relationships" r:id="R5e74c2c24293471f"/>
              </a:rPr>
              <a:t>Quelle öffnen (beck-online.beck.de)</a:t>
            </a:r>
            <a:r>
              <a:t> · </a:t>
            </a:r>
            <a:r>
              <a:rPr>
                <a:hlinkClick xmlns:r="http://schemas.openxmlformats.org/officeDocument/2006/relationships" r:id="R1fca32fbdbf44714"/>
              </a:rPr>
              <a:t>Quelle öffnen (bundesverfassungsgericht.de)</a:t>
            </a:r>
            <a:r>
              <a:t/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D7153D-82C9-48AC-828D-0AB0F0F93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0"/>
            <a:ext cx="1112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D7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D75"/>
                </a:solidFill>
                <a:latin typeface="Arial"/>
                <a:ea typeface="Arial"/>
                <a:cs typeface="Arial"/>
              </a:rPr>
              <a:t>Recht Medizinisch · Folie 6 · Seite 1/1</a:t>
            </a:r>
          </a:p>
        </p:txBody>
      </p:sp>
    </p:spTree>
    <p:extLst>
      <p:ext uri="{BB962C8B-B14F-4D97-AF65-F5344CB8AC3E}">
        <p14:creationId xmlns:p14="http://schemas.microsoft.com/office/powerpoint/2010/main" val="110526862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D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B38D60-3C8E-4CB8-908C-B942BB0B3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1112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59D7D1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9D7D1"/>
                </a:solidFill>
                <a:latin typeface="Arial"/>
                <a:ea typeface="Arial"/>
                <a:cs typeface="Arial"/>
              </a:rPr>
              <a:t>ERST TATSACHEN, DANN RECHT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015E04-B017-4084-A7CE-37411BDFE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85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Fünf Fragen vor der Entscheidung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405D9B-35B0-47E9-9930-2ED6D6664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57325"/>
            <a:ext cx="11125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59D7D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59D7D1"/>
                </a:solidFill>
                <a:latin typeface="Arial"/>
                <a:ea typeface="Arial"/>
                <a:cs typeface="Arial"/>
              </a:rPr>
              <a:t>① Tod feststellen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7B1BC0-FF10-4494-B8B3-45A8CE1D1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14525"/>
            <a:ext cx="111252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Ist der irreversible Hirnfunktionsausfall nach der einschlägigen Richtlinie der Bundesärztekammer sicher festgestellt? Die Diagnostik umfasst Voraussetzungen, klinische Ausfallsymptome und den Nachweis der Irreversibilität.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07290B-0B55-41B4-9C62-8A19C1CE1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28925"/>
            <a:ext cx="11125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59D7D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59D7D1"/>
                </a:solidFill>
                <a:latin typeface="Arial"/>
                <a:ea typeface="Arial"/>
                <a:cs typeface="Arial"/>
              </a:rPr>
              <a:t>② Prognose klären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6013AE-698A-4F06-8419-FA8A9C9B7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86125"/>
            <a:ext cx="111252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Welche realistische Überlebenschance hat die Leibesfrucht, mit welcher Belastung und in welchem Zeitraum?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145B6F-D55B-472B-AB5B-47D029EC9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57600"/>
            <a:ext cx="11125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59D7D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59D7D1"/>
                </a:solidFill>
                <a:latin typeface="Arial"/>
                <a:ea typeface="Arial"/>
                <a:cs typeface="Arial"/>
              </a:rPr>
              <a:t>③ Willen ermitteln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D687E5-03CC-4DB1-A492-C5CB19994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148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Gibt es frühere Äußerungen der Frau zur Schwangerschaft, Intensivmedizin, Organspende oder zum Umgang mit ihrem Körper nach dem Tod?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8B3A2C-6A62-4481-8A2D-0F396AA0C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10250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7D8D5"/>
                </a:solidFill>
                <a:latin typeface="Arial"/>
                <a:ea typeface="Arial"/>
                <a:cs typeface="Arial"/>
              </a:defRPr>
            </a:pPr>
            <a:r>
              <a:t>Quelle: Recht Medizinisch · allgemeine Lernfassung. Zur Todesfeststellung: Bundesärztekammer, Richtlinie zum irreversiblen Hirnfunktionsausfall, Fünfte Fortschreibung (2022), geprüft 07.09.2026 · </a:t>
            </a:r>
            <a:r>
              <a:rPr>
                <a:hlinkClick xmlns:r="http://schemas.openxmlformats.org/officeDocument/2006/relationships" r:id="R9d3301e7589549ce"/>
              </a:rPr>
              <a:t>Quelle öffnen (wbbaek.de)</a:t>
            </a:r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A7253B-29BD-4C83-A509-F3A452FBF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0"/>
            <a:ext cx="1112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B7D8D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B7D8D5"/>
                </a:solidFill>
                <a:latin typeface="Arial"/>
                <a:ea typeface="Arial"/>
                <a:cs typeface="Arial"/>
              </a:rPr>
              <a:t>Recht Medizinisch · Folie 7 · Seite 1/2</a:t>
            </a:r>
          </a:p>
        </p:txBody>
      </p:sp>
    </p:spTree>
    <p:extLst>
      <p:ext uri="{BB962C8B-B14F-4D97-AF65-F5344CB8AC3E}">
        <p14:creationId xmlns:p14="http://schemas.microsoft.com/office/powerpoint/2010/main" val="44512683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1D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266763-7BC8-4CB6-8281-3BFD79630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1112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59D7D1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9D7D1"/>
                </a:solidFill>
                <a:latin typeface="Arial"/>
                <a:ea typeface="Arial"/>
                <a:cs typeface="Arial"/>
              </a:rPr>
              <a:t>ERST TATSACHEN, DANN RECHT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3E6503-54B3-4D50-9AF3-216190635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85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Fünf Fragen vor der Entscheidung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172321-AA5F-4F8B-8DD4-A360687EA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57325"/>
            <a:ext cx="11125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59D7D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59D7D1"/>
                </a:solidFill>
                <a:latin typeface="Arial"/>
                <a:ea typeface="Arial"/>
                <a:cs typeface="Arial"/>
              </a:rPr>
              <a:t>④ Rollen trennen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152A23-6879-42AE-83EC-FC913C1F1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14525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Wer liefert Tatsachen, wer vertritt wessen Interessen, wer prüft die medizinische Indikation und wer entscheidet rechtlich?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1E2B89-40C9-4B23-AB15-12242916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62225"/>
            <a:ext cx="11125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59D7D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59D7D1"/>
                </a:solidFill>
                <a:latin typeface="Arial"/>
                <a:ea typeface="Arial"/>
                <a:cs typeface="Arial"/>
              </a:rPr>
              <a:t>⑤ Prozess sichern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BC9DD8-31EE-4FC3-887E-9FD32D946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19425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Zeitfenster, Dissens, Ethikberatung, gerichtliche Kontaktaufnahme und Gründe der Zwischenentscheidung dokumentieren.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3B60CB-DAC7-4370-B12C-C88277C40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67125"/>
            <a:ext cx="11125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59D7D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59D7D1"/>
                </a:solidFill>
                <a:latin typeface="Arial"/>
                <a:ea typeface="Arial"/>
                <a:cs typeface="Arial"/>
              </a:rPr>
              <a:t>💡 Praxis-Merksatz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4757E7-F1A0-4F97-8E37-96CC56336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24325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In Grenzfällen ist ein transparentes, überprüfbares Verfahren oft rechtlich wichtiger als eine scheinbar schnelle Gewissheit.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5E0067-4175-44E3-A0B0-3B5A03641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10250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7D8D5"/>
                </a:solidFill>
                <a:latin typeface="Arial"/>
                <a:ea typeface="Arial"/>
                <a:cs typeface="Arial"/>
              </a:defRPr>
            </a:pPr>
            <a:r>
              <a:t>Quelle: Recht Medizinisch · allgemeine Lernfassung. Zur Todesfeststellung: Bundesärztekammer, Richtlinie zum irreversiblen Hirnfunktionsausfall, Fünfte Fortschreibung (2022), geprüft 07.09.2026 · </a:t>
            </a:r>
            <a:r>
              <a:rPr>
                <a:hlinkClick xmlns:r="http://schemas.openxmlformats.org/officeDocument/2006/relationships" r:id="Ra2b40cdbf9fd4ea0"/>
              </a:rPr>
              <a:t>Quelle öffnen (wbbaek.de)</a:t>
            </a:r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79AFEE-2406-4F0E-9C2D-22C67964B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0"/>
            <a:ext cx="1112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B7D8D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B7D8D5"/>
                </a:solidFill>
                <a:latin typeface="Arial"/>
                <a:ea typeface="Arial"/>
                <a:cs typeface="Arial"/>
              </a:rPr>
              <a:t>Recht Medizinisch · Folie 7 · Seite 2/2</a:t>
            </a:r>
          </a:p>
        </p:txBody>
      </p:sp>
    </p:spTree>
    <p:extLst>
      <p:ext uri="{BB962C8B-B14F-4D97-AF65-F5344CB8AC3E}">
        <p14:creationId xmlns:p14="http://schemas.microsoft.com/office/powerpoint/2010/main" val="114843065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DF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034DDA-4D46-4085-B8DE-3B418A645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1112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87F8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87F86"/>
                </a:solidFill>
                <a:latin typeface="Arial"/>
                <a:ea typeface="Arial"/>
                <a:cs typeface="Arial"/>
              </a:rPr>
              <a:t>AG HERSBRUCK · BESCHLUSS 1992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53B3F9-4194-403B-9352-539B2F0E3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71D33"/>
                </a:solidFill>
                <a:latin typeface="Georgia"/>
                <a:ea typeface="Georgia"/>
                <a:cs typeface="Georgia"/>
              </a:defRPr>
            </a:pPr>
            <a:r>
              <a:rPr sz="2850" b="1">
                <a:solidFill>
                  <a:srgbClr val="071D33"/>
                </a:solidFill>
                <a:latin typeface="Georgia"/>
                <a:ea typeface="Georgia"/>
                <a:cs typeface="Georgia"/>
              </a:rPr>
              <a:t>Eine umstrittene Zwischenlösung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E483F2-9FBF-419E-9404-7B829A50F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57325"/>
            <a:ext cx="11125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87F8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87F86"/>
                </a:solidFill>
                <a:latin typeface="Arial"/>
                <a:ea typeface="Arial"/>
                <a:cs typeface="Arial"/>
              </a:rPr>
              <a:t>⚖ Entscheidung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86D090-376B-4AEF-8A42-262A52D62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14525"/>
            <a:ext cx="111252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071D33"/>
                </a:solidFill>
                <a:latin typeface="Arial"/>
                <a:ea typeface="Arial"/>
                <a:cs typeface="Arial"/>
              </a:defRPr>
            </a:pPr>
            <a:r>
              <a:t>AG Hersbruck · 16.10.1992 · XVII 1556/92 · damals als nicht rechtskräftig veröffentlicht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073C13-AB96-463F-A969-C45225223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0"/>
            <a:ext cx="11125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87F8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87F86"/>
                </a:solidFill>
                <a:latin typeface="Arial"/>
                <a:ea typeface="Arial"/>
                <a:cs typeface="Arial"/>
              </a:rPr>
              <a:t>📚 Fundstellen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33E581-2D3C-4073-AEE4-A12468839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43200"/>
            <a:ext cx="111252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071D33"/>
                </a:solidFill>
                <a:latin typeface="Arial"/>
                <a:ea typeface="Arial"/>
                <a:cs typeface="Arial"/>
              </a:defRPr>
            </a:pPr>
            <a:r>
              <a:t>NJW 1992, 3245 · FamRZ 1992, 1471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16A3E4-6EA1-4856-A1E4-D2A5BE3B1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14675"/>
            <a:ext cx="11125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87F8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87F86"/>
                </a:solidFill>
                <a:latin typeface="Arial"/>
                <a:ea typeface="Arial"/>
                <a:cs typeface="Arial"/>
              </a:rPr>
              <a:t>🧩 Sachverhalt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ACE782-74B7-45D2-9049-EBD2B44C7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71875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071D33"/>
                </a:solidFill>
                <a:latin typeface="Arial"/>
                <a:ea typeface="Arial"/>
                <a:cs typeface="Arial"/>
              </a:defRPr>
            </a:pPr>
            <a:r>
              <a:t>Das Gericht bestellte für die hirntote Schwangere eine vorläufige Betreuerin, obwohl es die Frau als rechtlich tot ansah. Kreislauf und Atmung wurden wegen der Schwangerschaft künstlich aufrechterhalten.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2FDCC6-7DFD-401D-87FF-48F49D395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9575"/>
            <a:ext cx="11125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87F8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87F86"/>
                </a:solidFill>
                <a:latin typeface="Arial"/>
                <a:ea typeface="Arial"/>
                <a:cs typeface="Arial"/>
              </a:rPr>
              <a:t>❝ Tragende Aussage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C3DBBB-F3A5-4EEA-9AAF-3C3AC05E5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76775"/>
            <a:ext cx="111252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071D33"/>
                </a:solidFill>
                <a:latin typeface="Arial"/>
                <a:ea typeface="Arial"/>
                <a:cs typeface="Arial"/>
              </a:defRPr>
            </a:pPr>
            <a:r>
              <a:t>Nach dem Beschluss bedurfte das Abschalten der funktionserhaltenden Apparate vor der Entbindung oder dem Tod des ungeborenen Kindes einer gerichtlichen Genehmigung. Danach sollte dieser Genehmigungsvorbehalt entfallen.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5B4ADD-8EF4-418E-89E7-FB9AA3E2A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53125"/>
            <a:ext cx="11125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26D75"/>
                </a:solidFill>
                <a:latin typeface="Arial"/>
                <a:ea typeface="Arial"/>
                <a:cs typeface="Arial"/>
              </a:defRPr>
            </a:pPr>
            <a:r>
              <a:t>Quelle: AG Hersbruck, Beschl. v. 16.10.1992 – XVII 1556/92, NJW 1992, 3245; veröffentlichter Beschlusstext geprüft am 09.09.2026 · </a:t>
            </a:r>
            <a:r>
              <a:rPr>
                <a:hlinkClick xmlns:r="http://schemas.openxmlformats.org/officeDocument/2006/relationships" r:id="R1351e92449054729"/>
              </a:rPr>
              <a:t>Quelle öffnen (beck-online.beck.de)</a:t>
            </a:r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0E4250-322A-4C42-BA27-CEDE904D0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0"/>
            <a:ext cx="1112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D7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D75"/>
                </a:solidFill>
                <a:latin typeface="Arial"/>
                <a:ea typeface="Arial"/>
                <a:cs typeface="Arial"/>
              </a:rPr>
              <a:t>Recht Medizinisch · Folie 8 · Seite 1/2</a:t>
            </a:r>
          </a:p>
        </p:txBody>
      </p:sp>
    </p:spTree>
    <p:extLst>
      <p:ext uri="{BB962C8B-B14F-4D97-AF65-F5344CB8AC3E}">
        <p14:creationId xmlns:p14="http://schemas.microsoft.com/office/powerpoint/2010/main" val="121812996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DF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64F907-D5B9-4959-A8EB-40B9F8CEA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1112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87F8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87F86"/>
                </a:solidFill>
                <a:latin typeface="Arial"/>
                <a:ea typeface="Arial"/>
                <a:cs typeface="Arial"/>
              </a:rPr>
              <a:t>AG HERSBRUCK · BESCHLUSS 1992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76B3BC-6B78-48F5-A952-1A0522E88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71D33"/>
                </a:solidFill>
                <a:latin typeface="Georgia"/>
                <a:ea typeface="Georgia"/>
                <a:cs typeface="Georgia"/>
              </a:defRPr>
            </a:pPr>
            <a:r>
              <a:rPr sz="2850" b="1">
                <a:solidFill>
                  <a:srgbClr val="071D33"/>
                </a:solidFill>
                <a:latin typeface="Georgia"/>
                <a:ea typeface="Georgia"/>
                <a:cs typeface="Georgia"/>
              </a:rPr>
              <a:t>Eine umstrittene Zwischenlösung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6E4742-1826-4BF4-A279-869400114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57325"/>
            <a:ext cx="11125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87F8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87F86"/>
                </a:solidFill>
                <a:latin typeface="Arial"/>
                <a:ea typeface="Arial"/>
                <a:cs typeface="Arial"/>
              </a:rPr>
              <a:t>🩺 Praxis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E29F87-AA47-4F9E-A49D-9D8244FE2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14525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071D33"/>
                </a:solidFill>
                <a:latin typeface="Arial"/>
                <a:ea typeface="Arial"/>
                <a:cs typeface="Arial"/>
              </a:defRPr>
            </a:pPr>
            <a:r>
              <a:t>Der Beschluss beantwortete vor allem die damalige Vertretungs- und Genehmigungsfrage. Er ist keine allgemeine höchstrichterliche Pflicht zur Fortführung intensivmedizinischer Maßnahmen.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E2EAE1-3FFF-4DB1-90EA-4F85F7851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62225"/>
            <a:ext cx="11125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87F8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87F86"/>
                </a:solidFill>
                <a:latin typeface="Arial"/>
                <a:ea typeface="Arial"/>
                <a:cs typeface="Arial"/>
              </a:rPr>
              <a:t>💡 Praxis-Merksatz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596520-D354-4A33-ABC0-FCAB09F4E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19425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071D33"/>
                </a:solidFill>
                <a:latin typeface="Arial"/>
                <a:ea typeface="Arial"/>
                <a:cs typeface="Arial"/>
              </a:defRPr>
            </a:pPr>
            <a:r>
              <a:t>Die juristisch korrekte Bezeichnung lautet Beschluss; Reichweite und Begründung der Entscheidung sind bis heute umstritten.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5050E0-A0BB-48CE-A71B-61D96B130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53125"/>
            <a:ext cx="11125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26D75"/>
                </a:solidFill>
                <a:latin typeface="Arial"/>
                <a:ea typeface="Arial"/>
                <a:cs typeface="Arial"/>
              </a:defRPr>
            </a:pPr>
            <a:r>
              <a:t>Quelle: AG Hersbruck, Beschl. v. 16.10.1992 – XVII 1556/92, NJW 1992, 3245; veröffentlichter Beschlusstext geprüft am 09.09.2026 · </a:t>
            </a:r>
            <a:r>
              <a:rPr>
                <a:hlinkClick xmlns:r="http://schemas.openxmlformats.org/officeDocument/2006/relationships" r:id="R9885c08efe7841f3"/>
              </a:rPr>
              <a:t>Quelle öffnen (beck-online.beck.de)</a:t>
            </a:r>
            <a: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999F0B-28B3-415D-B256-13460FD42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0"/>
            <a:ext cx="1112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D7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D75"/>
                </a:solidFill>
                <a:latin typeface="Arial"/>
                <a:ea typeface="Arial"/>
                <a:cs typeface="Arial"/>
              </a:rPr>
              <a:t>Recht Medizinisch · Folie 8 · Seite 2/2</a:t>
            </a:r>
          </a:p>
        </p:txBody>
      </p:sp>
    </p:spTree>
    <p:extLst>
      <p:ext uri="{BB962C8B-B14F-4D97-AF65-F5344CB8AC3E}">
        <p14:creationId xmlns:p14="http://schemas.microsoft.com/office/powerpoint/2010/main" val="41166263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EFDF36-68D2-455B-AC9B-44CFDD70A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1112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87F8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87F86"/>
                </a:solidFill>
                <a:latin typeface="Arial"/>
                <a:ea typeface="Arial"/>
                <a:cs typeface="Arial"/>
              </a:rPr>
              <a:t>AG HERSBRUCK · ABWÄGUNG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61B3F0-4216-4046-B0E5-383EA46A2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71D33"/>
                </a:solidFill>
                <a:latin typeface="Georgia"/>
                <a:ea typeface="Georgia"/>
                <a:cs typeface="Georgia"/>
              </a:defRPr>
            </a:pPr>
            <a:r>
              <a:rPr sz="2850" b="1">
                <a:solidFill>
                  <a:srgbClr val="071D33"/>
                </a:solidFill>
                <a:latin typeface="Georgia"/>
                <a:ea typeface="Georgia"/>
                <a:cs typeface="Georgia"/>
              </a:rPr>
              <a:t>Welche Interessen gaben den Ausschlag?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3BB66E-0149-4109-A333-B91FF9DFA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57325"/>
            <a:ext cx="11125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87F8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87F86"/>
                </a:solidFill>
                <a:latin typeface="Arial"/>
                <a:ea typeface="Arial"/>
                <a:cs typeface="Arial"/>
              </a:rPr>
              <a:t>☷ Kernpunkte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31B45C-B017-4244-AE15-5B1A1B371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14525"/>
            <a:ext cx="11125200" cy="3609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071D33"/>
                </a:solidFill>
                <a:latin typeface="Arial"/>
                <a:ea typeface="Arial"/>
                <a:cs typeface="Arial"/>
              </a:defRPr>
            </a:pPr>
            <a:r>
              <a:t>• Das Gericht ging vom rechtlichen Tod der Schwangeren aus.</a:t>
            </a:r>
            <a:br/>
            <a:r>
              <a:t>• Zu berücksichtigen blieben Menschenwürde, postmortaler Persönlichkeitsschutz, frühere Willensäußerungen und die Totenfürsorge der Angehörigen.</a:t>
            </a:r>
            <a:br/>
            <a:r>
              <a:t>• Gegen die Fortführung sprach die Gefahr, den Körper nur noch funktional als Mittel für die Schwangerschaft zu behandeln.</a:t>
            </a:r>
            <a:br/>
            <a:r>
              <a:t>• Eine laufende Einwilligung der Patientin konnte nach der angenommenen Todesfeststellung nicht mehr konstruiert werden.</a:t>
            </a:r>
            <a:br/>
            <a:r>
              <a:t>• Das Gericht erkannte der ungeborenen Leibesfrucht ein eigenständiges, rechtlich schutzwürdiges Lebensinteresse zu.</a:t>
            </a:r>
            <a:br/>
            <a:r>
              <a:t>• Entscheidend war die konkrete medizinische Chance, die Schwangerschaft bis zu Geburt oder Lebensfähigkeit fortzuführen.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D20472-F1E7-45C7-9585-63DD27FD5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53125"/>
            <a:ext cx="11125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26D75"/>
                </a:solidFill>
                <a:latin typeface="Arial"/>
                <a:ea typeface="Arial"/>
                <a:cs typeface="Arial"/>
              </a:defRPr>
            </a:pPr>
            <a:r>
              <a:t>Quelle: AG Hersbruck, Beschl. v. 16.10.1992 – XVII 1556/92 · </a:t>
            </a:r>
            <a:r>
              <a:rPr>
                <a:hlinkClick xmlns:r="http://schemas.openxmlformats.org/officeDocument/2006/relationships" r:id="R272f4e6d92e140fc"/>
              </a:rPr>
              <a:t>Quelle öffnen (beck-online.beck.de)</a:t>
            </a:r>
            <a:r>
              <a:t> · Kritische Einordnung: Neue Kriminalpolitik 1993, 9–11 · </a:t>
            </a:r>
            <a:r>
              <a:rPr>
                <a:hlinkClick xmlns:r="http://schemas.openxmlformats.org/officeDocument/2006/relationships" r:id="R0fb9c13696454f33"/>
              </a:rPr>
              <a:t>Quelle öffnen (doi.org)</a:t>
            </a:r>
            <a: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27307C-FF97-4DCB-975D-B30543C3F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0"/>
            <a:ext cx="1112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D7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D75"/>
                </a:solidFill>
                <a:latin typeface="Arial"/>
                <a:ea typeface="Arial"/>
                <a:cs typeface="Arial"/>
              </a:rPr>
              <a:t>Recht Medizinisch · Folie 9 · Seite 1/2</a:t>
            </a:r>
          </a:p>
        </p:txBody>
      </p:sp>
    </p:spTree>
    <p:extLst>
      <p:ext uri="{BB962C8B-B14F-4D97-AF65-F5344CB8AC3E}">
        <p14:creationId xmlns:p14="http://schemas.microsoft.com/office/powerpoint/2010/main" val="187570700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1024CC-BBF0-4DF5-AD18-36BDE9E53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1112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87F8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87F86"/>
                </a:solidFill>
                <a:latin typeface="Arial"/>
                <a:ea typeface="Arial"/>
                <a:cs typeface="Arial"/>
              </a:rPr>
              <a:t>AG HERSBRUCK · ABWÄGUNG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71FD68-8551-46CE-809C-EA7B8C22B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71D33"/>
                </a:solidFill>
                <a:latin typeface="Georgia"/>
                <a:ea typeface="Georgia"/>
                <a:cs typeface="Georgia"/>
              </a:defRPr>
            </a:pPr>
            <a:r>
              <a:rPr sz="2850" b="1">
                <a:solidFill>
                  <a:srgbClr val="071D33"/>
                </a:solidFill>
                <a:latin typeface="Georgia"/>
                <a:ea typeface="Georgia"/>
                <a:cs typeface="Georgia"/>
              </a:rPr>
              <a:t>Welche Interessen gaben den Ausschlag?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70BC32-6A52-4F1A-A3DD-CEAD4453D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57325"/>
            <a:ext cx="11125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87F8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87F86"/>
                </a:solidFill>
                <a:latin typeface="Arial"/>
                <a:ea typeface="Arial"/>
                <a:cs typeface="Arial"/>
              </a:rPr>
              <a:t>☷ Kernpunkte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3E919D-AC56-40F8-B528-45D610024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14525"/>
            <a:ext cx="111252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071D33"/>
                </a:solidFill>
                <a:latin typeface="Arial"/>
                <a:ea typeface="Arial"/>
                <a:cs typeface="Arial"/>
              </a:defRPr>
            </a:pPr>
            <a:r>
              <a:t>• Solange eine reale Chance bestand, gewichtete das Gericht dieses Lebensinteresse höher als die entgegenstehenden postmortalen Belange.</a:t>
            </a:r>
            <a:br/>
            <a:r>
              <a:t>• Deshalb sollte ein vorzeitiges Abschalten nicht allein dem Betreuer überlassen, sondern gerichtlich genehmigt werden.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7AD85E-EBD3-433D-9D46-DE17BEACE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09925"/>
            <a:ext cx="11125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87F8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87F86"/>
                </a:solidFill>
                <a:latin typeface="Arial"/>
                <a:ea typeface="Arial"/>
                <a:cs typeface="Arial"/>
              </a:rPr>
              <a:t>💡 Praxis-Merksatz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1516C8-FE32-4A50-838F-EBB5EF43B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67125"/>
            <a:ext cx="111252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071D33"/>
                </a:solidFill>
                <a:latin typeface="Arial"/>
                <a:ea typeface="Arial"/>
                <a:cs typeface="Arial"/>
              </a:defRPr>
            </a:pPr>
            <a:r>
              <a:t>Die Priorisierung war prognoseabhängig, nicht absolut: Nach Geburt oder Tod der Leibesfrucht sollte die Genehmigungspflicht entfallen. Umstritten bleiben gesetzliche Grundlage und mögliche Instrumentalisierung des weiblichen Körpers.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6D75B5-4474-440E-A957-2A664CF91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53125"/>
            <a:ext cx="11125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26D75"/>
                </a:solidFill>
                <a:latin typeface="Arial"/>
                <a:ea typeface="Arial"/>
                <a:cs typeface="Arial"/>
              </a:defRPr>
            </a:pPr>
            <a:r>
              <a:t>Quelle: AG Hersbruck, Beschl. v. 16.10.1992 – XVII 1556/92 · </a:t>
            </a:r>
            <a:r>
              <a:rPr>
                <a:hlinkClick xmlns:r="http://schemas.openxmlformats.org/officeDocument/2006/relationships" r:id="R533f96c3ffe74a39"/>
              </a:rPr>
              <a:t>Quelle öffnen (beck-online.beck.de)</a:t>
            </a:r>
            <a:r>
              <a:t> · Kritische Einordnung: Neue Kriminalpolitik 1993, 9–11 · </a:t>
            </a:r>
            <a:r>
              <a:rPr>
                <a:hlinkClick xmlns:r="http://schemas.openxmlformats.org/officeDocument/2006/relationships" r:id="Rae30648863b5477a"/>
              </a:rPr>
              <a:t>Quelle öffnen (doi.org)</a:t>
            </a:r>
            <a: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A59151-1B76-4AFC-8327-A2E72AEEA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0"/>
            <a:ext cx="1112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D7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D75"/>
                </a:solidFill>
                <a:latin typeface="Arial"/>
                <a:ea typeface="Arial"/>
                <a:cs typeface="Arial"/>
              </a:rPr>
              <a:t>Recht Medizinisch · Folie 9 · Seite 2/2</a:t>
            </a:r>
          </a:p>
        </p:txBody>
      </p:sp>
    </p:spTree>
    <p:extLst>
      <p:ext uri="{BB962C8B-B14F-4D97-AF65-F5344CB8AC3E}">
        <p14:creationId xmlns:p14="http://schemas.microsoft.com/office/powerpoint/2010/main" val="10427568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6855A4-9324-4F43-888D-B84F3397F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1112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87F8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87F86"/>
                </a:solidFill>
                <a:latin typeface="Arial"/>
                <a:ea typeface="Arial"/>
                <a:cs typeface="Arial"/>
              </a:rPr>
              <a:t>RECHTSSTAND 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BEE1F5-2A7E-4D70-81E9-F751806A3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71D33"/>
                </a:solidFill>
                <a:latin typeface="Georgia"/>
                <a:ea typeface="Georgia"/>
                <a:cs typeface="Georgia"/>
              </a:defRPr>
            </a:pPr>
            <a:r>
              <a:rPr sz="2850" b="1">
                <a:solidFill>
                  <a:srgbClr val="071D33"/>
                </a:solidFill>
                <a:latin typeface="Georgia"/>
                <a:ea typeface="Georgia"/>
                <a:cs typeface="Georgia"/>
              </a:rPr>
              <a:t>Was gilt heute?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9ACB77-9D2D-4298-9FB9-DF44E886A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57325"/>
            <a:ext cx="11125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87F8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87F86"/>
                </a:solidFill>
                <a:latin typeface="Arial"/>
                <a:ea typeface="Arial"/>
                <a:cs typeface="Arial"/>
              </a:rPr>
              <a:t>Historische Entscheidung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D4EE37-2F7A-43F3-AB52-36D131731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14525"/>
            <a:ext cx="11125200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071D33"/>
                </a:solidFill>
                <a:latin typeface="Arial"/>
                <a:ea typeface="Arial"/>
                <a:cs typeface="Arial"/>
              </a:defRPr>
            </a:pPr>
            <a:r>
              <a:t>• vorläufige Betreuung trotz angenommener rechtlicher Todesfeststellung</a:t>
            </a:r>
            <a:br/>
            <a:r>
              <a:t>• gerichtlicher Genehmigungsvorbehalt für ein Abschalten vor Entbindung oder Tod der Leibesfrucht</a:t>
            </a:r>
            <a:br/>
            <a:r>
              <a:t>• keine höchstrichterliche abschließende Güterabwägung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56846C-8C59-4D0F-B360-790A09A7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10250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26D75"/>
                </a:solidFill>
                <a:latin typeface="Arial"/>
                <a:ea typeface="Arial"/>
                <a:cs typeface="Arial"/>
              </a:defRPr>
            </a:pPr>
            <a:r>
              <a:t>Heutiger Rechtsrahmen: § 1870 BGB und § 1874 Abs. 2 BGB. Amtliche Gesetzestexte: </a:t>
            </a:r>
            <a:r>
              <a:rPr>
                <a:hlinkClick xmlns:r="http://schemas.openxmlformats.org/officeDocument/2006/relationships" r:id="Rd44b11e801e74acc"/>
              </a:rPr>
              <a:t>§ 1870 BGB öffnen</a:t>
            </a:r>
            <a:r>
              <a:t> und </a:t>
            </a:r>
            <a:r>
              <a:rPr>
                <a:hlinkClick xmlns:r="http://schemas.openxmlformats.org/officeDocument/2006/relationships" r:id="R13f83dbc6dce452c"/>
              </a:rPr>
              <a:t>§ 1874 BGB öffnen</a:t>
            </a:r>
            <a:r>
              <a:t> · geprüft am 08.09.2026. Diese Normen belegen die heutige Rechtslage; sie sind kein Beleg für die historische Entscheidung.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33CBD8-2682-42AB-9B53-6DD47D171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0"/>
            <a:ext cx="1112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D7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D75"/>
                </a:solidFill>
                <a:latin typeface="Arial"/>
                <a:ea typeface="Arial"/>
                <a:cs typeface="Arial"/>
              </a:rPr>
              <a:t>Recht Medizinisch · Folie 10 · Seite 1/2</a:t>
            </a:r>
          </a:p>
        </p:txBody>
      </p:sp>
    </p:spTree>
    <p:extLst>
      <p:ext uri="{BB962C8B-B14F-4D97-AF65-F5344CB8AC3E}">
        <p14:creationId xmlns:p14="http://schemas.microsoft.com/office/powerpoint/2010/main" val="85709022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A0923C-EB6C-4CC6-A619-CE2B5CB2D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1112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87F8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87F86"/>
                </a:solidFill>
                <a:latin typeface="Arial"/>
                <a:ea typeface="Arial"/>
                <a:cs typeface="Arial"/>
              </a:rPr>
              <a:t>RECHTSSTAND 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6704F0-2E9B-4057-81CB-C117AF6D1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71D33"/>
                </a:solidFill>
                <a:latin typeface="Georgia"/>
                <a:ea typeface="Georgia"/>
                <a:cs typeface="Georgia"/>
              </a:defRPr>
            </a:pPr>
            <a:r>
              <a:rPr sz="2850" b="1">
                <a:solidFill>
                  <a:srgbClr val="071D33"/>
                </a:solidFill>
                <a:latin typeface="Georgia"/>
                <a:ea typeface="Georgia"/>
                <a:cs typeface="Georgia"/>
              </a:rPr>
              <a:t>Was gilt heute?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BC984F-8898-4363-9196-B5FDBB205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57325"/>
            <a:ext cx="11125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87F8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87F86"/>
                </a:solidFill>
                <a:latin typeface="Arial"/>
                <a:ea typeface="Arial"/>
                <a:cs typeface="Arial"/>
              </a:rPr>
              <a:t>Heutiger Rechtsrahmen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5AF1DD-6828-45FD-A4BE-9BFC69D1D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14525"/>
            <a:ext cx="111252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071D33"/>
                </a:solidFill>
                <a:latin typeface="Arial"/>
                <a:ea typeface="Arial"/>
                <a:cs typeface="Arial"/>
              </a:defRPr>
            </a:pPr>
            <a:r>
              <a:t>• § 1870 BGB: Die Betreuung endet mit dem Tod.</a:t>
            </a:r>
            <a:br/>
            <a:r>
              <a:t>• § 1874 Abs. 2 BGB regelt daneben unaufschiebbare Angelegenheiten im bisherigen Aufgabenkreis, bis der Erbe sie besorgen kann. Daraus folgt keine allgemeine Befugnis zur Fortführung einer Schwangerschaft nach dem Tod.</a:t>
            </a:r>
            <a:br/>
            <a:r>
              <a:t>• Medizinische Indikation und Prognose bleiben eigenständige ärztliche Fragen.</a:t>
            </a:r>
            <a:br/>
            <a:r>
              <a:t>• Grundrechte, Strafrecht, Totenfürsorge und Verfahrenszuständigkeit müssen getrennt geprüft werden.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2566DD-2500-492D-81E7-64C985B9F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43350"/>
            <a:ext cx="11125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87F8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87F86"/>
                </a:solidFill>
                <a:latin typeface="Arial"/>
                <a:ea typeface="Arial"/>
                <a:cs typeface="Arial"/>
              </a:rPr>
              <a:t>💡 Praxis-Merksatz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8E7D35-9DD5-42F0-AD7C-5F7ABA5E4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0055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071D33"/>
                </a:solidFill>
                <a:latin typeface="Arial"/>
                <a:ea typeface="Arial"/>
                <a:cs typeface="Arial"/>
              </a:defRPr>
            </a:pPr>
            <a:r>
              <a:t>Lehrziel ist nicht eine Musterlösung, sondern die saubere Trennung von Tatsachen, Rechtspositionen, Zuständigkeiten und Entscheidungsgrenzen.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FB9179-A8DC-4C3D-8A2E-B2777CB3A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10250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26D75"/>
                </a:solidFill>
                <a:latin typeface="Arial"/>
                <a:ea typeface="Arial"/>
                <a:cs typeface="Arial"/>
              </a:defRPr>
            </a:pPr>
            <a:r>
              <a:t>Heutiger Rechtsrahmen: § 1870 BGB und § 1874 Abs. 2 BGB. Amtliche Gesetzestexte: </a:t>
            </a:r>
            <a:r>
              <a:rPr>
                <a:hlinkClick xmlns:r="http://schemas.openxmlformats.org/officeDocument/2006/relationships" r:id="Rcd11be1d2fcc4241"/>
              </a:rPr>
              <a:t>§ 1870 BGB öffnen</a:t>
            </a:r>
            <a:r>
              <a:t> und </a:t>
            </a:r>
            <a:r>
              <a:rPr>
                <a:hlinkClick xmlns:r="http://schemas.openxmlformats.org/officeDocument/2006/relationships" r:id="R18d7a03971b64872"/>
              </a:rPr>
              <a:t>§ 1874 BGB öffnen</a:t>
            </a:r>
            <a:r>
              <a:t> · geprüft am 08.09.2026. Diese Normen belegen die heutige Rechtslage; sie sind kein Beleg für die historische Entscheidung.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BCFDEC-2F30-42D4-B321-A212E9163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0"/>
            <a:ext cx="1112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D7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D75"/>
                </a:solidFill>
                <a:latin typeface="Arial"/>
                <a:ea typeface="Arial"/>
                <a:cs typeface="Arial"/>
              </a:rPr>
              <a:t>Recht Medizinisch · Folie 10 · Seite 2/2</a:t>
            </a:r>
          </a:p>
        </p:txBody>
      </p:sp>
    </p:spTree>
    <p:extLst>
      <p:ext uri="{BB962C8B-B14F-4D97-AF65-F5344CB8AC3E}">
        <p14:creationId xmlns:p14="http://schemas.microsoft.com/office/powerpoint/2010/main" val="151471868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71D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6B58CF-1D15-49D9-BDED-0CA717257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1112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59D7D1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9D7D1"/>
                </a:solidFill>
                <a:latin typeface="Arial"/>
                <a:ea typeface="Arial"/>
                <a:cs typeface="Arial"/>
              </a:rPr>
              <a:t>KURZVISITE · 22.06.2026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A14F5E-465D-40DE-A587-1478F4393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85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Vom Podcast zur Falllösung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26586B-7560-4363-9514-EE0060976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381125"/>
            <a:ext cx="5486400" cy="1933575"/>
          </a:xfrm>
          <a:prstGeom xmlns:a="http://schemas.openxmlformats.org/drawingml/2006/main" prst="roundRect">
            <a:avLst>
              <a:gd name="adj" fmla="val 3941"/>
            </a:avLst>
          </a:prstGeom>
          <a:solidFill xmlns:a="http://schemas.openxmlformats.org/drawingml/2006/main">
            <a:srgbClr val="EDF5F1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E04650-A722-4E7B-B858-CACFA7323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57325"/>
            <a:ext cx="5410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87F8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87F86"/>
                </a:solidFill>
                <a:latin typeface="Arial"/>
                <a:ea typeface="Arial"/>
                <a:cs typeface="Arial"/>
              </a:rPr>
              <a:t>🎙 Podcast-Folge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9828FD-22E5-4104-8CC8-F0DD5AC9B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95475"/>
            <a:ext cx="5410200" cy="1457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71D33"/>
                </a:solidFill>
                <a:latin typeface="Arial"/>
                <a:ea typeface="Arial"/>
                <a:cs typeface="Arial"/>
              </a:defRPr>
            </a:pPr>
            <a:r>
              <a:t>Der Erlanger Baby-Fall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0512A7-ED64-4639-B79C-667E558F8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381125"/>
            <a:ext cx="5486400" cy="1933575"/>
          </a:xfrm>
          <a:prstGeom xmlns:a="http://schemas.openxmlformats.org/drawingml/2006/main" prst="roundRect">
            <a:avLst>
              <a:gd name="adj" fmla="val 3941"/>
            </a:avLst>
          </a:prstGeom>
          <a:solidFill xmlns:a="http://schemas.openxmlformats.org/drawingml/2006/main">
            <a:srgbClr val="E8EFF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C98112-86CC-4901-8F1D-45C91D141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5410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87F8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87F86"/>
                </a:solidFill>
                <a:latin typeface="Arial"/>
                <a:ea typeface="Arial"/>
                <a:cs typeface="Arial"/>
              </a:rPr>
              <a:t>🧩 Fall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88A907-03D5-4F4B-ABDF-6281D5091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895475"/>
            <a:ext cx="5410200" cy="1457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71D33"/>
                </a:solidFill>
                <a:latin typeface="Arial"/>
                <a:ea typeface="Arial"/>
                <a:cs typeface="Arial"/>
              </a:defRPr>
            </a:pPr>
            <a:r>
              <a:t>Die Kurzvisite stellt genau die Frage, mit der der Kurs beginnt: Intensivmaßnahmen beenden oder dem ungeborenen Kind eine Überlebenschance geben? Im Lernkurs folgt auf die Abstimmung die juristische Rekonstruktion.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6DD396-E9E1-4676-B3E0-6089B6A0F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409950"/>
            <a:ext cx="5486400" cy="2181225"/>
          </a:xfrm>
          <a:prstGeom xmlns:a="http://schemas.openxmlformats.org/drawingml/2006/main" prst="roundRect">
            <a:avLst>
              <a:gd name="adj" fmla="val 3493"/>
            </a:avLst>
          </a:prstGeom>
          <a:solidFill xmlns:a="http://schemas.openxmlformats.org/drawingml/2006/main">
            <a:srgbClr val="EDF5F1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FCDF5B-E49A-4741-818B-44B7E1780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86150"/>
            <a:ext cx="5410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87F8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87F86"/>
                </a:solidFill>
                <a:latin typeface="Arial"/>
                <a:ea typeface="Arial"/>
                <a:cs typeface="Arial"/>
              </a:rPr>
              <a:t>☑ Arbeitsaufträge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B29B18-E1BF-49A8-9D1A-8DD28FD91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24300"/>
            <a:ext cx="5410200" cy="1704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71D33"/>
                </a:solidFill>
                <a:latin typeface="Arial"/>
                <a:ea typeface="Arial"/>
                <a:cs typeface="Arial"/>
              </a:defRPr>
            </a:pPr>
            <a:r>
              <a:t>• Welche Tatsache würde Ihre Entscheidung am stärksten verändern?</a:t>
            </a:r>
            <a:br/>
            <a:r>
              <a:t>• Welche Rolle darf ein Gericht übernehmen – und welche nicht?</a:t>
            </a:r>
            <a:br/>
            <a:r>
              <a:t>• Wie würden Sie den Dissens in zwei neutralen Sätzen dokumentieren?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ACD005-C233-4A6B-88D5-56AA1BFF5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409950"/>
            <a:ext cx="5486400" cy="2181225"/>
          </a:xfrm>
          <a:prstGeom xmlns:a="http://schemas.openxmlformats.org/drawingml/2006/main" prst="roundRect">
            <a:avLst>
              <a:gd name="adj" fmla="val 3493"/>
            </a:avLst>
          </a:prstGeom>
          <a:solidFill xmlns:a="http://schemas.openxmlformats.org/drawingml/2006/main">
            <a:srgbClr val="EDF5F1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924DD9-0499-41BB-BA81-115B15ECE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486150"/>
            <a:ext cx="5410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87F8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87F86"/>
                </a:solidFill>
                <a:latin typeface="Arial"/>
                <a:ea typeface="Arial"/>
                <a:cs typeface="Arial"/>
              </a:rPr>
              <a:t>Ihr Lernweg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A8B5F6-E687-4C36-BD33-8CD7AEE31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24300"/>
            <a:ext cx="5410200" cy="1704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71D33"/>
                </a:solidFill>
                <a:latin typeface="Arial"/>
                <a:ea typeface="Arial"/>
                <a:cs typeface="Arial"/>
              </a:defRPr>
            </a:pPr>
            <a:r>
              <a:t>• Echter Fall</a:t>
            </a:r>
            <a:br/>
            <a:r>
              <a:t>• Eigene Entscheidung</a:t>
            </a:r>
            <a:br/>
            <a:r>
              <a:t>• Drei Rechtsfragen</a:t>
            </a:r>
            <a:br/>
            <a:r>
              <a:t>• Strukturierter Entscheidungsweg</a:t>
            </a:r>
            <a:br/>
            <a:r>
              <a:t>• Drei Kernerkenntnisse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466D0F-F31E-4ACA-899B-AAE9D8459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53125"/>
            <a:ext cx="11125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7D8D5"/>
                </a:solidFill>
                <a:latin typeface="Arial"/>
                <a:ea typeface="Arial"/>
                <a:cs typeface="Arial"/>
              </a:defRPr>
            </a:pPr>
            <a:r>
              <a:t>Quelle: Recht Medizinisch, Kurzvisite „Der Erlanger Baby-Fall“, Apple Podcasts/Spotify, 22.06.2026 · SPIEGEL-Link in der Episodenbeschreibung · </a:t>
            </a:r>
            <a:r>
              <a:rPr>
                <a:hlinkClick xmlns:r="http://schemas.openxmlformats.org/officeDocument/2006/relationships" r:id="R667a62f4d93c4485"/>
              </a:rPr>
              <a:t>Quelle öffnen (podcasts.apple.com)</a:t>
            </a:r>
            <a:r>
              <a:t/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957F08-BDB8-492A-BA9A-A103B3009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0"/>
            <a:ext cx="1112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B7D8D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B7D8D5"/>
                </a:solidFill>
                <a:latin typeface="Arial"/>
                <a:ea typeface="Arial"/>
                <a:cs typeface="Arial"/>
              </a:rPr>
              <a:t>Recht Medizinisch · Folie 11 · Seite 1/1</a:t>
            </a:r>
          </a:p>
        </p:txBody>
      </p:sp>
    </p:spTree>
    <p:extLst>
      <p:ext uri="{BB962C8B-B14F-4D97-AF65-F5344CB8AC3E}">
        <p14:creationId xmlns:p14="http://schemas.microsoft.com/office/powerpoint/2010/main" val="167323906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DF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63AE7C-C8E7-4062-A159-DAE9F2440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1112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87F8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87F86"/>
                </a:solidFill>
                <a:latin typeface="Arial"/>
                <a:ea typeface="Arial"/>
                <a:cs typeface="Arial"/>
              </a:rPr>
              <a:t>LEITGEDANKE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3DDDC8-54BD-469A-A29E-16955DEF7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71D33"/>
                </a:solidFill>
                <a:latin typeface="Georgia"/>
                <a:ea typeface="Georgia"/>
                <a:cs typeface="Georgia"/>
              </a:defRPr>
            </a:pPr>
            <a:r>
              <a:rPr sz="2850" b="1">
                <a:solidFill>
                  <a:srgbClr val="071D33"/>
                </a:solidFill>
                <a:latin typeface="Georgia"/>
                <a:ea typeface="Georgia"/>
                <a:cs typeface="Georgia"/>
              </a:rPr>
              <a:t>Der Perspektivwechsel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DBDE14-3269-4D3D-A791-06EEF959E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381125"/>
            <a:ext cx="5486400" cy="1190625"/>
          </a:xfrm>
          <a:prstGeom xmlns:a="http://schemas.openxmlformats.org/drawingml/2006/main" prst="roundRect">
            <a:avLst>
              <a:gd name="adj" fmla="val 6400"/>
            </a:avLst>
          </a:prstGeom>
          <a:solidFill xmlns:a="http://schemas.openxmlformats.org/drawingml/2006/main">
            <a:srgbClr val="EDF5F1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AD59FF-E135-42C7-9006-8293C9E0F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57325"/>
            <a:ext cx="5410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87F8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87F86"/>
                </a:solidFill>
                <a:latin typeface="Arial"/>
                <a:ea typeface="Arial"/>
                <a:cs typeface="Arial"/>
              </a:rPr>
              <a:t>❝ Zitat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9E720D-E9A3-48D4-8014-2B902E3DA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95475"/>
            <a:ext cx="54102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71D33"/>
                </a:solidFill>
                <a:latin typeface="Arial"/>
                <a:ea typeface="Arial"/>
                <a:cs typeface="Arial"/>
              </a:defRPr>
            </a:pPr>
            <a:r>
              <a:t>Recht haben heißt nicht automatisch Recht bekommen.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F9412E-0F13-44E0-B94D-E9A4BD497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381125"/>
            <a:ext cx="5486400" cy="1190625"/>
          </a:xfrm>
          <a:prstGeom xmlns:a="http://schemas.openxmlformats.org/drawingml/2006/main" prst="roundRect">
            <a:avLst>
              <a:gd name="adj" fmla="val 6400"/>
            </a:avLst>
          </a:prstGeom>
          <a:solidFill xmlns:a="http://schemas.openxmlformats.org/drawingml/2006/main">
            <a:srgbClr val="EEEDF9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044DFD-A084-40A4-B49C-DBEEE7085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5410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87F8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87F86"/>
                </a:solidFill>
                <a:latin typeface="Arial"/>
                <a:ea typeface="Arial"/>
                <a:cs typeface="Arial"/>
              </a:rPr>
              <a:t>🧭 Einordnung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E48A45-136A-46A0-BC3B-EE4D1118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895475"/>
            <a:ext cx="54102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71D33"/>
                </a:solidFill>
                <a:latin typeface="Arial"/>
                <a:ea typeface="Arial"/>
                <a:cs typeface="Arial"/>
              </a:defRPr>
            </a:pPr>
            <a:r>
              <a:t>Entscheidend sind Tatsachen, Dokumentation, Beweise, Fristen, Kommunikation – und der richtige Verfahrensweg.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6BC756-1784-433E-BDF8-8538D9388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667000"/>
            <a:ext cx="11201400" cy="942975"/>
          </a:xfrm>
          <a:prstGeom xmlns:a="http://schemas.openxmlformats.org/drawingml/2006/main" prst="roundRect">
            <a:avLst>
              <a:gd name="adj" fmla="val 8081"/>
            </a:avLst>
          </a:prstGeom>
          <a:solidFill xmlns:a="http://schemas.openxmlformats.org/drawingml/2006/main">
            <a:srgbClr val="F7EDC8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34C538-464F-40BB-8034-85B11B64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43200"/>
            <a:ext cx="11125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87F8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87F86"/>
                </a:solidFill>
                <a:latin typeface="Arial"/>
                <a:ea typeface="Arial"/>
                <a:cs typeface="Arial"/>
              </a:rPr>
              <a:t>💡 Praxis-Merksatz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905DC3-A04C-4E57-A573-D252CDC56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81350"/>
            <a:ext cx="111252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71D33"/>
                </a:solidFill>
                <a:latin typeface="Arial"/>
                <a:ea typeface="Arial"/>
                <a:cs typeface="Arial"/>
              </a:defRPr>
            </a:pPr>
            <a:r>
              <a:t>Medizinrecht wird praktisch, sobald mehrere Akten dieselbe Behandlung unterschiedlich lesen.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E0BDEF-C167-415E-8BDA-4C23612F7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53125"/>
            <a:ext cx="11125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26D75"/>
                </a:solidFill>
                <a:latin typeface="Arial"/>
                <a:ea typeface="Arial"/>
                <a:cs typeface="Arial"/>
              </a:defRPr>
            </a:pPr>
            <a:r>
              <a:t>Quelle: Recht Medizinisch · allgemeine Lernfassung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75B00F-55F2-459E-B0C3-9D844B3D1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0"/>
            <a:ext cx="1112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D7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D75"/>
                </a:solidFill>
                <a:latin typeface="Arial"/>
                <a:ea typeface="Arial"/>
                <a:cs typeface="Arial"/>
              </a:rPr>
              <a:t>Recht Medizinisch · Folie 12 · Seite 1/1</a:t>
            </a:r>
          </a:p>
        </p:txBody>
      </p:sp>
    </p:spTree>
    <p:extLst>
      <p:ext uri="{BB962C8B-B14F-4D97-AF65-F5344CB8AC3E}">
        <p14:creationId xmlns:p14="http://schemas.microsoft.com/office/powerpoint/2010/main" val="210471298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2026-09-30T09:13:26.8290000Z</dcterms:created>
  <dcterms:modified xsi:type="dcterms:W3CDTF">2026-09-30T09:13:26.8290000Z</dcterms:modified>
</coreProperties>
</file>